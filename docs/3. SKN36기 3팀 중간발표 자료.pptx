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70" r:id="rId9"/>
    <p:sldId id="265" r:id="rId10"/>
    <p:sldId id="267" r:id="rId11"/>
    <p:sldId id="269" r:id="rId12"/>
    <p:sldId id="268" r:id="rId13"/>
    <p:sldId id="266" r:id="rId14"/>
  </p:sldIdLst>
  <p:sldSz cx="16256000" cy="9144000"/>
  <p:notesSz cx="9144000" cy="16256000"/>
  <p:embeddedFontLst>
    <p:embeddedFont>
      <p:font typeface="Noto Sans KR" panose="020B0200000000000000" pitchFamily="50" charset="-127"/>
      <p:regular r:id="rId16"/>
      <p:bold r:id="rId17"/>
    </p:embeddedFont>
    <p:embeddedFont>
      <p:font typeface="맑은 고딕" panose="020B0503020000020004" pitchFamily="50" charset="-127"/>
      <p:regular r:id="rId18"/>
      <p:bold r:id="rId19"/>
    </p:embeddedFont>
    <p:embeddedFont>
      <p:font typeface="Abadi" panose="020B0604020104020204" pitchFamily="34" charset="0"/>
      <p:regular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22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5299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1794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876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2201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5573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361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4783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482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accent"/>
          <p:cNvSpPr/>
          <p:nvPr/>
        </p:nvSpPr>
        <p:spPr>
          <a:xfrm>
            <a:off x="762000" y="2362200"/>
            <a:ext cx="1828800" cy="9144"/>
          </a:xfrm>
          <a:prstGeom prst="line">
            <a:avLst/>
          </a:prstGeom>
          <a:ln w="50800">
            <a:solidFill>
              <a:srgbClr val="00B4D8"/>
            </a:solidFill>
            <a:prstDash val="solid"/>
          </a:ln>
        </p:spPr>
      </p:sp>
      <p:sp>
        <p:nvSpPr>
          <p:cNvPr id="3" name="cover-kicker"/>
          <p:cNvSpPr/>
          <p:nvPr/>
        </p:nvSpPr>
        <p:spPr>
          <a:xfrm>
            <a:off x="762000" y="2565400"/>
            <a:ext cx="787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00B4D8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SAFE-DRIVING ANALYTICS &amp; FORECASTING ENGINE</a:t>
            </a:r>
            <a:endParaRPr lang="en-US" sz="1800" dirty="0"/>
          </a:p>
        </p:txBody>
      </p:sp>
      <p:sp>
        <p:nvSpPr>
          <p:cNvPr id="4" name="cover-title"/>
          <p:cNvSpPr/>
          <p:nvPr/>
        </p:nvSpPr>
        <p:spPr>
          <a:xfrm>
            <a:off x="762000" y="3149600"/>
            <a:ext cx="10414000" cy="1397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5800" b="1" dirty="0">
                <a:solidFill>
                  <a:srgbClr val="F8F9FA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SAFE</a:t>
            </a:r>
            <a:endParaRPr lang="en-US" sz="5800" b="1" dirty="0"/>
          </a:p>
        </p:txBody>
      </p:sp>
      <p:sp>
        <p:nvSpPr>
          <p:cNvPr id="5" name="cover-subtitle"/>
          <p:cNvSpPr/>
          <p:nvPr/>
        </p:nvSpPr>
        <p:spPr>
          <a:xfrm>
            <a:off x="762000" y="4699000"/>
            <a:ext cx="990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altLang="en-US" sz="3000" dirty="0">
                <a:solidFill>
                  <a:srgbClr val="F8F9FA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전국 자동차 등록·고령화·교통사고</a:t>
            </a:r>
            <a:endParaRPr lang="en-US" sz="3000" dirty="0"/>
          </a:p>
          <a:p>
            <a:pPr marL="0" indent="0" algn="l">
              <a:lnSpc>
                <a:spcPts val="3600"/>
              </a:lnSpc>
              <a:buNone/>
            </a:pPr>
            <a:r>
              <a:rPr lang="en-US" altLang="en-US" sz="3000" dirty="0">
                <a:solidFill>
                  <a:srgbClr val="F8F9FA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통합 분석 및 미래전망 시스템</a:t>
            </a:r>
            <a:endParaRPr lang="en-US" sz="3000" dirty="0"/>
          </a:p>
        </p:txBody>
      </p:sp>
      <p:sp>
        <p:nvSpPr>
          <p:cNvPr id="6" name="cover-meta"/>
          <p:cNvSpPr/>
          <p:nvPr/>
        </p:nvSpPr>
        <p:spPr>
          <a:xfrm>
            <a:off x="762000" y="66802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9CA3AF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SKN 36기 3팀  |  </a:t>
            </a:r>
            <a:r>
              <a:rPr lang="ko-KR" altLang="en-US" dirty="0">
                <a:solidFill>
                  <a:srgbClr val="9CA3AF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안효원</a:t>
            </a:r>
            <a:r>
              <a:rPr lang="en-US" altLang="ko-KR" dirty="0">
                <a:solidFill>
                  <a:srgbClr val="9CA3AF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 </a:t>
            </a:r>
            <a:r>
              <a:rPr lang="ko-KR" altLang="en-US" dirty="0">
                <a:solidFill>
                  <a:srgbClr val="9CA3AF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신지수 김재훈 이유나</a:t>
            </a:r>
            <a:endParaRPr lang="en-US" sz="1800" dirty="0"/>
          </a:p>
        </p:txBody>
      </p:sp>
      <p:sp>
        <p:nvSpPr>
          <p:cNvPr id="7" name="motif-frame"/>
          <p:cNvSpPr/>
          <p:nvPr/>
        </p:nvSpPr>
        <p:spPr>
          <a:xfrm>
            <a:off x="11379200" y="2082800"/>
            <a:ext cx="4064000" cy="4978400"/>
          </a:xfrm>
          <a:prstGeom prst="rect">
            <a:avLst/>
          </a:prstGeom>
          <a:ln w="25400">
            <a:solidFill>
              <a:srgbClr val="2A3B5C"/>
            </a:solidFill>
            <a:prstDash val="solid"/>
          </a:ln>
        </p:spPr>
      </p:sp>
      <p:sp>
        <p:nvSpPr>
          <p:cNvPr id="8" name="motif-line-1"/>
          <p:cNvSpPr/>
          <p:nvPr/>
        </p:nvSpPr>
        <p:spPr>
          <a:xfrm flipV="1">
            <a:off x="11709400" y="3708400"/>
            <a:ext cx="3124200" cy="2159000"/>
          </a:xfrm>
          <a:prstGeom prst="line">
            <a:avLst/>
          </a:prstGeom>
          <a:ln w="38100">
            <a:solidFill>
              <a:srgbClr val="00B4D8">
                <a:alpha val="65000"/>
              </a:srgbClr>
            </a:solidFill>
            <a:prstDash val="solid"/>
          </a:ln>
        </p:spPr>
      </p:sp>
      <p:sp>
        <p:nvSpPr>
          <p:cNvPr id="9" name="motif-line-2"/>
          <p:cNvSpPr/>
          <p:nvPr/>
        </p:nvSpPr>
        <p:spPr>
          <a:xfrm flipV="1">
            <a:off x="11709400" y="5384800"/>
            <a:ext cx="2971800" cy="482600"/>
          </a:xfrm>
          <a:prstGeom prst="line">
            <a:avLst/>
          </a:prstGeom>
          <a:ln w="38100">
            <a:solidFill>
              <a:srgbClr val="F77F00">
                <a:alpha val="75000"/>
              </a:srgbClr>
            </a:solidFill>
            <a:prstDash val="solid"/>
          </a:ln>
        </p:spPr>
      </p:sp>
      <p:sp>
        <p:nvSpPr>
          <p:cNvPr id="10" name="motif-line-3"/>
          <p:cNvSpPr/>
          <p:nvPr/>
        </p:nvSpPr>
        <p:spPr>
          <a:xfrm flipV="1">
            <a:off x="11709400" y="2692400"/>
            <a:ext cx="1079500" cy="3175000"/>
          </a:xfrm>
          <a:prstGeom prst="line">
            <a:avLst/>
          </a:prstGeom>
          <a:ln w="25400">
            <a:solidFill>
              <a:srgbClr val="2A3B5C"/>
            </a:solidFill>
            <a:prstDash val="solid"/>
          </a:ln>
        </p:spPr>
      </p:sp>
      <p:sp>
        <p:nvSpPr>
          <p:cNvPr id="11" name="motif-dot-1"/>
          <p:cNvSpPr/>
          <p:nvPr/>
        </p:nvSpPr>
        <p:spPr>
          <a:xfrm>
            <a:off x="14579600" y="3606800"/>
            <a:ext cx="203200" cy="203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motif-dot-2"/>
          <p:cNvSpPr/>
          <p:nvPr/>
        </p:nvSpPr>
        <p:spPr>
          <a:xfrm>
            <a:off x="14579600" y="5283200"/>
            <a:ext cx="203200" cy="203200"/>
          </a:xfrm>
          <a:prstGeom prst="ellipse">
            <a:avLst/>
          </a:prstGeom>
          <a:solidFill>
            <a:srgbClr val="F77F00"/>
          </a:solidFill>
          <a:ln/>
        </p:spPr>
      </p:sp>
      <p:sp>
        <p:nvSpPr>
          <p:cNvPr id="13" name="motif-dot-3"/>
          <p:cNvSpPr/>
          <p:nvPr/>
        </p:nvSpPr>
        <p:spPr>
          <a:xfrm>
            <a:off x="12674600" y="2590800"/>
            <a:ext cx="203200" cy="203200"/>
          </a:xfrm>
          <a:prstGeom prst="ellipse">
            <a:avLst/>
          </a:prstGeom>
          <a:solidFill>
            <a:srgbClr val="00B4D8">
              <a:alpha val="80000"/>
            </a:srgbClr>
          </a:solidFill>
          <a:ln/>
        </p:spPr>
      </p:sp>
      <p:sp>
        <p:nvSpPr>
          <p:cNvPr id="14" name="motif-label"/>
          <p:cNvSpPr/>
          <p:nvPr/>
        </p:nvSpPr>
        <p:spPr>
          <a:xfrm>
            <a:off x="11811000" y="63500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9CA3AF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DATA · INSIGHT · POLICY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762000" y="685800"/>
            <a:ext cx="12446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400" b="1" dirty="0">
                <a:solidFill>
                  <a:srgbClr val="F8F9FA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분산 데이터가 정책 판단의 시간을 늘립니다</a:t>
            </a:r>
            <a:endParaRPr lang="en-US" sz="3400" b="1" dirty="0"/>
          </a:p>
        </p:txBody>
      </p:sp>
      <p:sp>
        <p:nvSpPr>
          <p:cNvPr id="3" name="title-line"/>
          <p:cNvSpPr/>
          <p:nvPr/>
        </p:nvSpPr>
        <p:spPr>
          <a:xfrm>
            <a:off x="762000" y="1574800"/>
            <a:ext cx="1524000" cy="9144"/>
          </a:xfrm>
          <a:prstGeom prst="line">
            <a:avLst/>
          </a:prstGeom>
          <a:ln w="38100">
            <a:solidFill>
              <a:srgbClr val="00B4D8"/>
            </a:solidFill>
            <a:prstDash val="solid"/>
          </a:ln>
        </p:spPr>
      </p:sp>
      <p:sp>
        <p:nvSpPr>
          <p:cNvPr id="4" name="lead"/>
          <p:cNvSpPr/>
          <p:nvPr/>
        </p:nvSpPr>
        <p:spPr>
          <a:xfrm>
            <a:off x="762000" y="2209800"/>
            <a:ext cx="54610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5"/>
              </a:lnSpc>
              <a:buNone/>
            </a:pPr>
            <a:r>
              <a:rPr lang="en-US" altLang="en-US" sz="2500" dirty="0">
                <a:solidFill>
                  <a:srgbClr val="F8F9FA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지역 단위 종합 분석을 위해</a:t>
            </a:r>
            <a:endParaRPr lang="en-US" sz="2500" dirty="0"/>
          </a:p>
          <a:p>
            <a:pPr marL="0" indent="0" algn="l">
              <a:lnSpc>
                <a:spcPts val="3125"/>
              </a:lnSpc>
              <a:buNone/>
            </a:pPr>
            <a:r>
              <a:rPr lang="en-US" altLang="en-US" sz="2500" b="1" dirty="0">
                <a:solidFill>
                  <a:srgbClr val="00B4D8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수집·가공·비교</a:t>
            </a:r>
            <a:r>
              <a:rPr lang="en-US" altLang="en-US" sz="2500" dirty="0">
                <a:solidFill>
                  <a:srgbClr val="F8F9FA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를 반복하고 있습니다.</a:t>
            </a:r>
            <a:endParaRPr lang="en-US" sz="2500" dirty="0"/>
          </a:p>
        </p:txBody>
      </p:sp>
      <p:sp>
        <p:nvSpPr>
          <p:cNvPr id="5" name="problem-list"/>
          <p:cNvSpPr/>
          <p:nvPr/>
        </p:nvSpPr>
        <p:spPr>
          <a:xfrm>
            <a:off x="762000" y="4089400"/>
            <a:ext cx="5842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 algn="l">
              <a:lnSpc>
                <a:spcPts val="290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000" dirty="0">
                <a:solidFill>
                  <a:srgbClr val="F8F9FA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자동차·인구·사고·정책 데이터가 기관별로 분산</a:t>
            </a:r>
            <a:endParaRPr lang="en-US" sz="2000" dirty="0"/>
          </a:p>
          <a:p>
            <a:pPr marL="317500" indent="-317500" algn="l">
              <a:lnSpc>
                <a:spcPts val="290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000" dirty="0">
                <a:solidFill>
                  <a:srgbClr val="F8F9FA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동일 지역·연도 기준으로 맞추는 수작업 발생</a:t>
            </a:r>
            <a:endParaRPr lang="en-US" sz="2000" dirty="0"/>
          </a:p>
          <a:p>
            <a:pPr marL="317500" indent="-317500" algn="l">
              <a:lnSpc>
                <a:spcPts val="290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000" dirty="0">
                <a:solidFill>
                  <a:srgbClr val="F8F9FA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건수만으로는 지역의 교통안전 상황 해석에 한계</a:t>
            </a:r>
            <a:endParaRPr lang="en-US" sz="2000" dirty="0"/>
          </a:p>
        </p:txBody>
      </p:sp>
      <p:sp>
        <p:nvSpPr>
          <p:cNvPr id="6" name="need"/>
          <p:cNvSpPr/>
          <p:nvPr/>
        </p:nvSpPr>
        <p:spPr>
          <a:xfrm>
            <a:off x="762000" y="6959600"/>
            <a:ext cx="546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altLang="en-US" sz="2000" dirty="0">
                <a:solidFill>
                  <a:srgbClr val="9CA3AF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필요한 것은 새로운 데이터가 아니라,</a:t>
            </a:r>
            <a:endParaRPr lang="en-US" sz="20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altLang="en-US" sz="2000" b="1" dirty="0">
                <a:solidFill>
                  <a:srgbClr val="F77F00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정책 판단에 쓰기 쉬운 연결</a:t>
            </a:r>
            <a:r>
              <a:rPr lang="en-US" altLang="en-US" sz="2000" dirty="0">
                <a:solidFill>
                  <a:srgbClr val="9CA3AF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입니다.</a:t>
            </a:r>
            <a:endParaRPr lang="en-US" sz="2000" dirty="0"/>
          </a:p>
        </p:txBody>
      </p:sp>
      <p:sp>
        <p:nvSpPr>
          <p:cNvPr id="7" name="source-1"/>
          <p:cNvSpPr/>
          <p:nvPr/>
        </p:nvSpPr>
        <p:spPr>
          <a:xfrm>
            <a:off x="7493000" y="2209800"/>
            <a:ext cx="2730500" cy="914400"/>
          </a:xfrm>
          <a:prstGeom prst="rect">
            <a:avLst/>
          </a:prstGeom>
          <a:solidFill>
            <a:srgbClr val="162238"/>
          </a:solidFill>
          <a:ln w="12700">
            <a:solidFill>
              <a:srgbClr val="2A3B5C"/>
            </a:solidFill>
            <a:prstDash val="solid"/>
          </a:ln>
        </p:spPr>
      </p:sp>
      <p:pic>
        <p:nvPicPr>
          <p:cNvPr id="8" name="source-1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600" y="2463800"/>
            <a:ext cx="355600" cy="355600"/>
          </a:xfrm>
          <a:prstGeom prst="rect">
            <a:avLst/>
          </a:prstGeom>
        </p:spPr>
      </p:pic>
      <p:sp>
        <p:nvSpPr>
          <p:cNvPr id="9" name="source-1-text"/>
          <p:cNvSpPr/>
          <p:nvPr/>
        </p:nvSpPr>
        <p:spPr>
          <a:xfrm>
            <a:off x="8255000" y="2413000"/>
            <a:ext cx="17145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F8F9FA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자동차 등록</a:t>
            </a:r>
            <a:endParaRPr lang="en-US" sz="1800" dirty="0"/>
          </a:p>
        </p:txBody>
      </p:sp>
      <p:sp>
        <p:nvSpPr>
          <p:cNvPr id="10" name="source-2"/>
          <p:cNvSpPr/>
          <p:nvPr/>
        </p:nvSpPr>
        <p:spPr>
          <a:xfrm>
            <a:off x="7493000" y="3479800"/>
            <a:ext cx="2730500" cy="914400"/>
          </a:xfrm>
          <a:prstGeom prst="rect">
            <a:avLst/>
          </a:prstGeom>
          <a:solidFill>
            <a:srgbClr val="162238"/>
          </a:solidFill>
          <a:ln w="12700">
            <a:solidFill>
              <a:srgbClr val="2A3B5C"/>
            </a:solidFill>
            <a:prstDash val="solid"/>
          </a:ln>
        </p:spPr>
      </p:sp>
      <p:pic>
        <p:nvPicPr>
          <p:cNvPr id="11" name="source-2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600" y="3733800"/>
            <a:ext cx="355600" cy="355600"/>
          </a:xfrm>
          <a:prstGeom prst="rect">
            <a:avLst/>
          </a:prstGeom>
        </p:spPr>
      </p:pic>
      <p:sp>
        <p:nvSpPr>
          <p:cNvPr id="12" name="source-2-text"/>
          <p:cNvSpPr/>
          <p:nvPr/>
        </p:nvSpPr>
        <p:spPr>
          <a:xfrm>
            <a:off x="8255000" y="3683000"/>
            <a:ext cx="17145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F8F9FA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인구·고령화</a:t>
            </a:r>
            <a:endParaRPr lang="en-US" sz="1800" dirty="0"/>
          </a:p>
        </p:txBody>
      </p:sp>
      <p:sp>
        <p:nvSpPr>
          <p:cNvPr id="13" name="source-3"/>
          <p:cNvSpPr/>
          <p:nvPr/>
        </p:nvSpPr>
        <p:spPr>
          <a:xfrm>
            <a:off x="7493000" y="4749800"/>
            <a:ext cx="2730500" cy="914400"/>
          </a:xfrm>
          <a:prstGeom prst="rect">
            <a:avLst/>
          </a:prstGeom>
          <a:solidFill>
            <a:srgbClr val="162238"/>
          </a:solidFill>
          <a:ln w="12700">
            <a:solidFill>
              <a:srgbClr val="2A3B5C"/>
            </a:solidFill>
            <a:prstDash val="solid"/>
          </a:ln>
        </p:spPr>
      </p:sp>
      <p:pic>
        <p:nvPicPr>
          <p:cNvPr id="14" name="source-3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1600" y="5003800"/>
            <a:ext cx="355600" cy="355600"/>
          </a:xfrm>
          <a:prstGeom prst="rect">
            <a:avLst/>
          </a:prstGeom>
        </p:spPr>
      </p:pic>
      <p:sp>
        <p:nvSpPr>
          <p:cNvPr id="15" name="source-3-text"/>
          <p:cNvSpPr/>
          <p:nvPr/>
        </p:nvSpPr>
        <p:spPr>
          <a:xfrm>
            <a:off x="8255000" y="4953000"/>
            <a:ext cx="17145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F8F9FA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교통사고</a:t>
            </a:r>
            <a:endParaRPr lang="en-US" sz="1800" dirty="0"/>
          </a:p>
        </p:txBody>
      </p:sp>
      <p:sp>
        <p:nvSpPr>
          <p:cNvPr id="16" name="source-4"/>
          <p:cNvSpPr/>
          <p:nvPr/>
        </p:nvSpPr>
        <p:spPr>
          <a:xfrm>
            <a:off x="7493000" y="6019800"/>
            <a:ext cx="2730500" cy="914400"/>
          </a:xfrm>
          <a:prstGeom prst="rect">
            <a:avLst/>
          </a:prstGeom>
          <a:solidFill>
            <a:srgbClr val="162238"/>
          </a:solidFill>
          <a:ln w="12700">
            <a:solidFill>
              <a:srgbClr val="2A3B5C"/>
            </a:solidFill>
            <a:prstDash val="solid"/>
          </a:ln>
        </p:spPr>
      </p:sp>
      <p:pic>
        <p:nvPicPr>
          <p:cNvPr id="17" name="source-4-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1600" y="6273800"/>
            <a:ext cx="355600" cy="355600"/>
          </a:xfrm>
          <a:prstGeom prst="rect">
            <a:avLst/>
          </a:prstGeom>
        </p:spPr>
      </p:pic>
      <p:sp>
        <p:nvSpPr>
          <p:cNvPr id="18" name="source-4-text"/>
          <p:cNvSpPr/>
          <p:nvPr/>
        </p:nvSpPr>
        <p:spPr>
          <a:xfrm>
            <a:off x="8255000" y="6223000"/>
            <a:ext cx="17145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F8F9FA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면허·정책</a:t>
            </a:r>
            <a:endParaRPr lang="en-US" sz="1800" dirty="0"/>
          </a:p>
        </p:txBody>
      </p:sp>
      <p:sp>
        <p:nvSpPr>
          <p:cNvPr id="19" name="link-1"/>
          <p:cNvSpPr/>
          <p:nvPr/>
        </p:nvSpPr>
        <p:spPr>
          <a:xfrm>
            <a:off x="10223500" y="2667000"/>
            <a:ext cx="1143000" cy="1397000"/>
          </a:xfrm>
          <a:prstGeom prst="line">
            <a:avLst/>
          </a:prstGeom>
          <a:ln w="25400">
            <a:solidFill>
              <a:srgbClr val="2A3B5C"/>
            </a:solidFill>
            <a:prstDash val="solid"/>
          </a:ln>
        </p:spPr>
      </p:sp>
      <p:sp>
        <p:nvSpPr>
          <p:cNvPr id="20" name="link-2"/>
          <p:cNvSpPr/>
          <p:nvPr/>
        </p:nvSpPr>
        <p:spPr>
          <a:xfrm>
            <a:off x="10223500" y="3937000"/>
            <a:ext cx="1143000" cy="127000"/>
          </a:xfrm>
          <a:prstGeom prst="line">
            <a:avLst/>
          </a:prstGeom>
          <a:ln w="25400">
            <a:solidFill>
              <a:srgbClr val="2A3B5C"/>
            </a:solidFill>
            <a:prstDash val="solid"/>
          </a:ln>
        </p:spPr>
      </p:sp>
      <p:sp>
        <p:nvSpPr>
          <p:cNvPr id="21" name="link-3"/>
          <p:cNvSpPr/>
          <p:nvPr/>
        </p:nvSpPr>
        <p:spPr>
          <a:xfrm flipV="1">
            <a:off x="10223500" y="4064000"/>
            <a:ext cx="1143000" cy="1143000"/>
          </a:xfrm>
          <a:prstGeom prst="line">
            <a:avLst/>
          </a:prstGeom>
          <a:ln w="25400">
            <a:solidFill>
              <a:srgbClr val="2A3B5C"/>
            </a:solidFill>
            <a:prstDash val="solid"/>
          </a:ln>
        </p:spPr>
      </p:sp>
      <p:sp>
        <p:nvSpPr>
          <p:cNvPr id="22" name="link-4"/>
          <p:cNvSpPr/>
          <p:nvPr/>
        </p:nvSpPr>
        <p:spPr>
          <a:xfrm flipV="1">
            <a:off x="10223500" y="4064000"/>
            <a:ext cx="1143000" cy="2413000"/>
          </a:xfrm>
          <a:prstGeom prst="line">
            <a:avLst/>
          </a:prstGeom>
          <a:ln w="25400">
            <a:solidFill>
              <a:srgbClr val="2A3B5C"/>
            </a:solidFill>
            <a:prstDash val="solid"/>
          </a:ln>
        </p:spPr>
      </p:sp>
      <p:sp>
        <p:nvSpPr>
          <p:cNvPr id="23" name="manual-node"/>
          <p:cNvSpPr/>
          <p:nvPr/>
        </p:nvSpPr>
        <p:spPr>
          <a:xfrm>
            <a:off x="11430000" y="3479800"/>
            <a:ext cx="1905000" cy="1168400"/>
          </a:xfrm>
          <a:prstGeom prst="rect">
            <a:avLst/>
          </a:prstGeom>
          <a:solidFill>
            <a:srgbClr val="F77F00">
              <a:alpha val="18000"/>
            </a:srgbClr>
          </a:solidFill>
          <a:ln w="25400">
            <a:solidFill>
              <a:srgbClr val="F77F00"/>
            </a:solidFill>
            <a:prstDash val="solid"/>
          </a:ln>
        </p:spPr>
      </p:sp>
      <p:sp>
        <p:nvSpPr>
          <p:cNvPr id="24" name="manual-node-text"/>
          <p:cNvSpPr/>
          <p:nvPr/>
        </p:nvSpPr>
        <p:spPr>
          <a:xfrm>
            <a:off x="11557000" y="3632200"/>
            <a:ext cx="1651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altLang="en-US" sz="1800" dirty="0">
                <a:solidFill>
                  <a:srgbClr val="F8F9FA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수작업</a:t>
            </a:r>
            <a:endParaRPr lang="en-US" sz="1800" dirty="0"/>
          </a:p>
          <a:p>
            <a:pPr marL="0" indent="0" algn="ctr">
              <a:lnSpc>
                <a:spcPts val="2250"/>
              </a:lnSpc>
              <a:buNone/>
            </a:pPr>
            <a:r>
              <a:rPr lang="en-US" altLang="en-US" sz="1800" dirty="0">
                <a:solidFill>
                  <a:srgbClr val="F8F9FA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가공·해석</a:t>
            </a:r>
            <a:endParaRPr lang="en-US" sz="1800" dirty="0"/>
          </a:p>
        </p:txBody>
      </p:sp>
      <p:sp>
        <p:nvSpPr>
          <p:cNvPr id="25" name="out-link"/>
          <p:cNvSpPr/>
          <p:nvPr/>
        </p:nvSpPr>
        <p:spPr>
          <a:xfrm>
            <a:off x="13335000" y="4064000"/>
            <a:ext cx="889000" cy="9144"/>
          </a:xfrm>
          <a:prstGeom prst="line">
            <a:avLst/>
          </a:prstGeom>
          <a:ln w="25400">
            <a:solidFill>
              <a:srgbClr val="F77F00"/>
            </a:solidFill>
            <a:prstDash val="solid"/>
            <a:tailEnd type="triangle"/>
          </a:ln>
        </p:spPr>
      </p:sp>
      <p:sp>
        <p:nvSpPr>
          <p:cNvPr id="26" name="result-node"/>
          <p:cNvSpPr/>
          <p:nvPr/>
        </p:nvSpPr>
        <p:spPr>
          <a:xfrm>
            <a:off x="14224000" y="3479800"/>
            <a:ext cx="1206500" cy="1168400"/>
          </a:xfrm>
          <a:prstGeom prst="rect">
            <a:avLst/>
          </a:prstGeom>
          <a:solidFill>
            <a:srgbClr val="162238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7" name="result-node-text"/>
          <p:cNvSpPr/>
          <p:nvPr/>
        </p:nvSpPr>
        <p:spPr>
          <a:xfrm>
            <a:off x="14312900" y="3657600"/>
            <a:ext cx="10287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altLang="en-US" sz="1500" dirty="0">
                <a:solidFill>
                  <a:srgbClr val="F8F9FA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지연된</a:t>
            </a:r>
            <a:endParaRPr lang="en-US" sz="15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altLang="en-US" sz="1500" dirty="0">
                <a:solidFill>
                  <a:srgbClr val="F8F9FA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정책 판단</a:t>
            </a:r>
            <a:endParaRPr lang="en-US" sz="1500" dirty="0"/>
          </a:p>
        </p:txBody>
      </p:sp>
      <p:sp>
        <p:nvSpPr>
          <p:cNvPr id="28" name="source"/>
          <p:cNvSpPr/>
          <p:nvPr/>
        </p:nvSpPr>
        <p:spPr>
          <a:xfrm>
            <a:off x="762000" y="8509000"/>
            <a:ext cx="914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300" dirty="0">
                <a:solidFill>
                  <a:srgbClr val="9CA3AF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출처: 첨부 시장조사요약 및 요구사항정의서 v1.2</a:t>
            </a:r>
            <a:endParaRPr lang="en-US" sz="1300" dirty="0"/>
          </a:p>
        </p:txBody>
      </p:sp>
      <p:sp>
        <p:nvSpPr>
          <p:cNvPr id="29" name="page"/>
          <p:cNvSpPr/>
          <p:nvPr/>
        </p:nvSpPr>
        <p:spPr>
          <a:xfrm>
            <a:off x="14859000" y="84836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9CA3AF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762000" y="685800"/>
            <a:ext cx="13208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400" b="1" dirty="0">
                <a:solidFill>
                  <a:srgbClr val="F8F9FA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고령운전자 이슈는 이미 현재진행형입니다</a:t>
            </a:r>
            <a:endParaRPr lang="en-US" sz="3400" b="1" dirty="0"/>
          </a:p>
        </p:txBody>
      </p:sp>
      <p:sp>
        <p:nvSpPr>
          <p:cNvPr id="3" name="title-line"/>
          <p:cNvSpPr/>
          <p:nvPr/>
        </p:nvSpPr>
        <p:spPr>
          <a:xfrm>
            <a:off x="762000" y="1574800"/>
            <a:ext cx="1524000" cy="9144"/>
          </a:xfrm>
          <a:prstGeom prst="line">
            <a:avLst/>
          </a:prstGeom>
          <a:ln w="38100">
            <a:solidFill>
              <a:srgbClr val="00B4D8"/>
            </a:solidFill>
            <a:prstDash val="solid"/>
          </a:ln>
        </p:spPr>
      </p:sp>
      <p:sp>
        <p:nvSpPr>
          <p:cNvPr id="4" name="kpi-card-1"/>
          <p:cNvSpPr/>
          <p:nvPr/>
        </p:nvSpPr>
        <p:spPr>
          <a:xfrm>
            <a:off x="3429000" y="2463800"/>
            <a:ext cx="4064000" cy="3302000"/>
          </a:xfrm>
          <a:prstGeom prst="rect">
            <a:avLst/>
          </a:prstGeom>
          <a:solidFill>
            <a:srgbClr val="162238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5" name="kpi-accent-1"/>
          <p:cNvSpPr/>
          <p:nvPr/>
        </p:nvSpPr>
        <p:spPr>
          <a:xfrm>
            <a:off x="3429000" y="2463800"/>
            <a:ext cx="4064000" cy="9144"/>
          </a:xfrm>
          <a:prstGeom prst="line">
            <a:avLst/>
          </a:prstGeom>
          <a:ln w="38100">
            <a:solidFill>
              <a:srgbClr val="00B4D8"/>
            </a:solidFill>
            <a:prstDash val="solid"/>
          </a:ln>
        </p:spPr>
      </p:sp>
      <p:sp>
        <p:nvSpPr>
          <p:cNvPr id="6" name="kpi-label-1"/>
          <p:cNvSpPr/>
          <p:nvPr/>
        </p:nvSpPr>
        <p:spPr>
          <a:xfrm>
            <a:off x="3784600" y="2895600"/>
            <a:ext cx="3352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9CA3AF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2024년 65세 이상 가해사고</a:t>
            </a:r>
            <a:endParaRPr lang="en-US" sz="1800" dirty="0"/>
          </a:p>
        </p:txBody>
      </p:sp>
      <p:sp>
        <p:nvSpPr>
          <p:cNvPr id="7" name="kpi-value-1"/>
          <p:cNvSpPr/>
          <p:nvPr/>
        </p:nvSpPr>
        <p:spPr>
          <a:xfrm>
            <a:off x="3784600" y="3479800"/>
            <a:ext cx="3352800" cy="965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4800" dirty="0">
                <a:solidFill>
                  <a:srgbClr val="00B4D8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42,369건</a:t>
            </a:r>
            <a:endParaRPr lang="en-US" sz="4800" dirty="0"/>
          </a:p>
        </p:txBody>
      </p:sp>
      <p:sp>
        <p:nvSpPr>
          <p:cNvPr id="8" name="kpi-note-1"/>
          <p:cNvSpPr/>
          <p:nvPr/>
        </p:nvSpPr>
        <p:spPr>
          <a:xfrm>
            <a:off x="3784600" y="4724400"/>
            <a:ext cx="317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10"/>
              </a:lnSpc>
              <a:buNone/>
            </a:pPr>
            <a:r>
              <a:rPr lang="en-US" altLang="en-US" sz="1700" dirty="0">
                <a:solidFill>
                  <a:srgbClr val="F8F9FA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2020년 31,072건 대비</a:t>
            </a:r>
            <a:endParaRPr lang="en-US" sz="1700" dirty="0"/>
          </a:p>
          <a:p>
            <a:pPr marL="0" indent="0" algn="l">
              <a:lnSpc>
                <a:spcPts val="2210"/>
              </a:lnSpc>
              <a:buNone/>
            </a:pPr>
            <a:r>
              <a:rPr lang="en-US" altLang="en-US" sz="1700" dirty="0">
                <a:solidFill>
                  <a:srgbClr val="F8F9FA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증가 추세</a:t>
            </a:r>
            <a:endParaRPr lang="en-US" sz="1700" dirty="0"/>
          </a:p>
        </p:txBody>
      </p:sp>
      <p:sp>
        <p:nvSpPr>
          <p:cNvPr id="9" name="kpi-card-2"/>
          <p:cNvSpPr/>
          <p:nvPr/>
        </p:nvSpPr>
        <p:spPr>
          <a:xfrm>
            <a:off x="8128000" y="2463800"/>
            <a:ext cx="4064000" cy="3302000"/>
          </a:xfrm>
          <a:prstGeom prst="rect">
            <a:avLst/>
          </a:prstGeom>
          <a:solidFill>
            <a:srgbClr val="162238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0" name="kpi-accent-2"/>
          <p:cNvSpPr/>
          <p:nvPr/>
        </p:nvSpPr>
        <p:spPr>
          <a:xfrm>
            <a:off x="8128000" y="2463800"/>
            <a:ext cx="4064000" cy="9144"/>
          </a:xfrm>
          <a:prstGeom prst="line">
            <a:avLst/>
          </a:prstGeom>
          <a:ln w="38100">
            <a:solidFill>
              <a:srgbClr val="F77F00"/>
            </a:solidFill>
            <a:prstDash val="solid"/>
          </a:ln>
        </p:spPr>
      </p:sp>
      <p:sp>
        <p:nvSpPr>
          <p:cNvPr id="11" name="kpi-label-2"/>
          <p:cNvSpPr/>
          <p:nvPr/>
        </p:nvSpPr>
        <p:spPr>
          <a:xfrm>
            <a:off x="8483600" y="2895600"/>
            <a:ext cx="3352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9CA3AF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전체 사고 중 고령 가해 비중</a:t>
            </a:r>
            <a:endParaRPr lang="en-US" sz="1800" dirty="0"/>
          </a:p>
        </p:txBody>
      </p:sp>
      <p:sp>
        <p:nvSpPr>
          <p:cNvPr id="12" name="kpi-value-2"/>
          <p:cNvSpPr/>
          <p:nvPr/>
        </p:nvSpPr>
        <p:spPr>
          <a:xfrm>
            <a:off x="8483600" y="3479800"/>
            <a:ext cx="3352800" cy="965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5200" dirty="0">
                <a:solidFill>
                  <a:srgbClr val="F77F00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21.6%</a:t>
            </a:r>
            <a:endParaRPr lang="en-US" sz="5200" dirty="0"/>
          </a:p>
        </p:txBody>
      </p:sp>
      <p:sp>
        <p:nvSpPr>
          <p:cNvPr id="13" name="kpi-note-2"/>
          <p:cNvSpPr/>
          <p:nvPr/>
        </p:nvSpPr>
        <p:spPr>
          <a:xfrm>
            <a:off x="8483600" y="4724400"/>
            <a:ext cx="317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10"/>
              </a:lnSpc>
              <a:buNone/>
            </a:pPr>
            <a:r>
              <a:rPr lang="en-US" altLang="en-US" sz="1700" dirty="0">
                <a:solidFill>
                  <a:srgbClr val="F8F9FA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전체 교통사고</a:t>
            </a:r>
            <a:endParaRPr lang="en-US" sz="1700" dirty="0"/>
          </a:p>
          <a:p>
            <a:pPr marL="0" indent="0" algn="l">
              <a:lnSpc>
                <a:spcPts val="2210"/>
              </a:lnSpc>
              <a:buNone/>
            </a:pPr>
            <a:r>
              <a:rPr lang="en-US" altLang="en-US" sz="1700" dirty="0">
                <a:solidFill>
                  <a:srgbClr val="F8F9FA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약 5건 중 1건 이상</a:t>
            </a:r>
            <a:endParaRPr lang="en-US" sz="1700" dirty="0"/>
          </a:p>
        </p:txBody>
      </p:sp>
      <p:sp>
        <p:nvSpPr>
          <p:cNvPr id="19" name="insight-box"/>
          <p:cNvSpPr/>
          <p:nvPr/>
        </p:nvSpPr>
        <p:spPr>
          <a:xfrm>
            <a:off x="762000" y="6553200"/>
            <a:ext cx="13462000" cy="1168400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0" name="insight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6883400"/>
            <a:ext cx="381000" cy="381000"/>
          </a:xfrm>
          <a:prstGeom prst="rect">
            <a:avLst/>
          </a:prstGeom>
        </p:spPr>
      </p:pic>
      <p:sp>
        <p:nvSpPr>
          <p:cNvPr id="21" name="insight-text"/>
          <p:cNvSpPr/>
          <p:nvPr/>
        </p:nvSpPr>
        <p:spPr>
          <a:xfrm>
            <a:off x="1778000" y="6807200"/>
            <a:ext cx="1193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2200" b="1" dirty="0">
                <a:solidFill>
                  <a:srgbClr val="00B4D8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전국 평균만으로는 부족합니다.</a:t>
            </a:r>
            <a:r>
              <a:rPr lang="en-US" altLang="en-US" sz="2200" dirty="0">
                <a:solidFill>
                  <a:srgbClr val="F8F9FA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 지역의 차량·인구·사고 맥락을 함께 비교해야 합니다.</a:t>
            </a:r>
            <a:endParaRPr lang="en-US" sz="2200" dirty="0"/>
          </a:p>
        </p:txBody>
      </p:sp>
      <p:sp>
        <p:nvSpPr>
          <p:cNvPr id="22" name="source"/>
          <p:cNvSpPr/>
          <p:nvPr/>
        </p:nvSpPr>
        <p:spPr>
          <a:xfrm>
            <a:off x="762000" y="8509000"/>
            <a:ext cx="1041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300" dirty="0">
                <a:solidFill>
                  <a:srgbClr val="9CA3AF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출처: 첨부 「고령운전자 교통사고 현황 보고서」 (TAAS 인용)</a:t>
            </a:r>
            <a:endParaRPr lang="en-US" sz="1300" dirty="0"/>
          </a:p>
        </p:txBody>
      </p:sp>
      <p:sp>
        <p:nvSpPr>
          <p:cNvPr id="23" name="page"/>
          <p:cNvSpPr/>
          <p:nvPr/>
        </p:nvSpPr>
        <p:spPr>
          <a:xfrm>
            <a:off x="14859000" y="84836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9CA3AF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762000" y="685800"/>
            <a:ext cx="13335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400" b="1" dirty="0">
                <a:solidFill>
                  <a:srgbClr val="F8F9FA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SAFE는 지역 정책 의사결정의 단일 창구입니다</a:t>
            </a:r>
            <a:endParaRPr lang="en-US" sz="3400" b="1" dirty="0"/>
          </a:p>
        </p:txBody>
      </p:sp>
      <p:sp>
        <p:nvSpPr>
          <p:cNvPr id="3" name="title-line"/>
          <p:cNvSpPr/>
          <p:nvPr/>
        </p:nvSpPr>
        <p:spPr>
          <a:xfrm>
            <a:off x="762000" y="1574800"/>
            <a:ext cx="1524000" cy="9144"/>
          </a:xfrm>
          <a:prstGeom prst="line">
            <a:avLst/>
          </a:prstGeom>
          <a:ln w="38100">
            <a:solidFill>
              <a:srgbClr val="00B4D8"/>
            </a:solidFill>
            <a:prstDash val="solid"/>
          </a:ln>
        </p:spPr>
      </p:sp>
      <p:sp>
        <p:nvSpPr>
          <p:cNvPr id="4" name="value-statement"/>
          <p:cNvSpPr/>
          <p:nvPr/>
        </p:nvSpPr>
        <p:spPr>
          <a:xfrm>
            <a:off x="762000" y="2133600"/>
            <a:ext cx="1346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500" dirty="0">
                <a:solidFill>
                  <a:srgbClr val="F8F9FA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조회 → 비교 → 분석 → 정책 검토를 </a:t>
            </a:r>
            <a:r>
              <a:rPr lang="en-US" altLang="en-US" sz="2500" b="1" dirty="0">
                <a:solidFill>
                  <a:srgbClr val="00B4D8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하나의 지역 분석 흐름</a:t>
            </a:r>
            <a:r>
              <a:rPr lang="en-US" altLang="en-US" sz="2500" dirty="0">
                <a:solidFill>
                  <a:srgbClr val="F8F9FA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으로 연결합니다.</a:t>
            </a:r>
            <a:endParaRPr lang="en-US" sz="2500" dirty="0"/>
          </a:p>
        </p:txBody>
      </p:sp>
      <p:sp>
        <p:nvSpPr>
          <p:cNvPr id="5" name="user-card-1"/>
          <p:cNvSpPr/>
          <p:nvPr/>
        </p:nvSpPr>
        <p:spPr>
          <a:xfrm>
            <a:off x="762000" y="3429000"/>
            <a:ext cx="4064000" cy="2489200"/>
          </a:xfrm>
          <a:prstGeom prst="rect">
            <a:avLst/>
          </a:prstGeom>
          <a:solidFill>
            <a:srgbClr val="162238"/>
          </a:solidFill>
          <a:ln w="12700">
            <a:solidFill>
              <a:srgbClr val="2A3B5C"/>
            </a:solidFill>
            <a:prstDash val="solid"/>
          </a:ln>
        </p:spPr>
      </p:sp>
      <p:pic>
        <p:nvPicPr>
          <p:cNvPr id="6" name="user-icon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3810000"/>
            <a:ext cx="457200" cy="457200"/>
          </a:xfrm>
          <a:prstGeom prst="rect">
            <a:avLst/>
          </a:prstGeom>
        </p:spPr>
      </p:pic>
      <p:sp>
        <p:nvSpPr>
          <p:cNvPr id="7" name="user-title-1"/>
          <p:cNvSpPr/>
          <p:nvPr/>
        </p:nvSpPr>
        <p:spPr>
          <a:xfrm>
            <a:off x="1117600" y="44450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b="1" dirty="0">
                <a:solidFill>
                  <a:srgbClr val="F8F9FA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지자체 교통정책 담당자</a:t>
            </a:r>
            <a:endParaRPr lang="en-US" sz="2000" b="1" dirty="0"/>
          </a:p>
        </p:txBody>
      </p:sp>
      <p:sp>
        <p:nvSpPr>
          <p:cNvPr id="8" name="user-text-1"/>
          <p:cNvSpPr/>
          <p:nvPr/>
        </p:nvSpPr>
        <p:spPr>
          <a:xfrm>
            <a:off x="1117600" y="5029200"/>
            <a:ext cx="3200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10"/>
              </a:lnSpc>
              <a:buNone/>
            </a:pPr>
            <a:r>
              <a:rPr lang="en-US" altLang="en-US" sz="1700" dirty="0">
                <a:solidFill>
                  <a:srgbClr val="9CA3AF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지역 자동차·고령화·미래변화를</a:t>
            </a:r>
            <a:endParaRPr lang="en-US" sz="1700" dirty="0"/>
          </a:p>
          <a:p>
            <a:pPr marL="0" indent="0" algn="l">
              <a:lnSpc>
                <a:spcPts val="2210"/>
              </a:lnSpc>
              <a:buNone/>
            </a:pPr>
            <a:r>
              <a:rPr lang="en-US" altLang="en-US" sz="1700" dirty="0">
                <a:solidFill>
                  <a:srgbClr val="9CA3AF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종합 조회해 정책 우선순위 검토</a:t>
            </a:r>
            <a:endParaRPr lang="en-US" sz="1700" dirty="0"/>
          </a:p>
        </p:txBody>
      </p:sp>
      <p:sp>
        <p:nvSpPr>
          <p:cNvPr id="9" name="user-card-2"/>
          <p:cNvSpPr/>
          <p:nvPr/>
        </p:nvSpPr>
        <p:spPr>
          <a:xfrm>
            <a:off x="5461000" y="3429000"/>
            <a:ext cx="4064000" cy="2489200"/>
          </a:xfrm>
          <a:prstGeom prst="rect">
            <a:avLst/>
          </a:prstGeom>
          <a:solidFill>
            <a:srgbClr val="162238"/>
          </a:solidFill>
          <a:ln w="12700">
            <a:solidFill>
              <a:srgbClr val="2A3B5C"/>
            </a:solidFill>
            <a:prstDash val="solid"/>
          </a:ln>
        </p:spPr>
      </p:sp>
      <p:pic>
        <p:nvPicPr>
          <p:cNvPr id="10" name="user-icon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6600" y="3810000"/>
            <a:ext cx="457200" cy="457200"/>
          </a:xfrm>
          <a:prstGeom prst="rect">
            <a:avLst/>
          </a:prstGeom>
        </p:spPr>
      </p:pic>
      <p:sp>
        <p:nvSpPr>
          <p:cNvPr id="11" name="user-title-2"/>
          <p:cNvSpPr/>
          <p:nvPr/>
        </p:nvSpPr>
        <p:spPr>
          <a:xfrm>
            <a:off x="5816600" y="44450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b="1" dirty="0">
                <a:solidFill>
                  <a:srgbClr val="F8F9FA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교통안전 담당자</a:t>
            </a:r>
            <a:endParaRPr lang="en-US" sz="2000" b="1" dirty="0"/>
          </a:p>
        </p:txBody>
      </p:sp>
      <p:sp>
        <p:nvSpPr>
          <p:cNvPr id="12" name="user-text-2"/>
          <p:cNvSpPr/>
          <p:nvPr/>
        </p:nvSpPr>
        <p:spPr>
          <a:xfrm>
            <a:off x="5816600" y="5029200"/>
            <a:ext cx="335084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10"/>
              </a:lnSpc>
              <a:buNone/>
            </a:pPr>
            <a:r>
              <a:rPr lang="en-US" altLang="en-US" sz="1700" dirty="0">
                <a:solidFill>
                  <a:srgbClr val="9CA3AF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고령운전자 사고의 유형·심각도와</a:t>
            </a:r>
            <a:endParaRPr lang="en-US" sz="1700" dirty="0"/>
          </a:p>
          <a:p>
            <a:pPr marL="0" indent="0" algn="l">
              <a:lnSpc>
                <a:spcPts val="2210"/>
              </a:lnSpc>
              <a:buNone/>
            </a:pPr>
            <a:r>
              <a:rPr lang="en-US" altLang="en-US" sz="1700" dirty="0">
                <a:solidFill>
                  <a:srgbClr val="9CA3AF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지역별 차이를 비교</a:t>
            </a:r>
            <a:endParaRPr lang="en-US" sz="1700" dirty="0"/>
          </a:p>
        </p:txBody>
      </p:sp>
      <p:sp>
        <p:nvSpPr>
          <p:cNvPr id="13" name="user-card-3"/>
          <p:cNvSpPr/>
          <p:nvPr/>
        </p:nvSpPr>
        <p:spPr>
          <a:xfrm>
            <a:off x="10160000" y="3429000"/>
            <a:ext cx="4064000" cy="2489200"/>
          </a:xfrm>
          <a:prstGeom prst="rect">
            <a:avLst/>
          </a:prstGeom>
          <a:solidFill>
            <a:srgbClr val="162238"/>
          </a:solidFill>
          <a:ln w="12700">
            <a:solidFill>
              <a:srgbClr val="2A3B5C"/>
            </a:solidFill>
            <a:prstDash val="solid"/>
          </a:ln>
        </p:spPr>
      </p:sp>
      <p:pic>
        <p:nvPicPr>
          <p:cNvPr id="14" name="user-icon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0" y="3810000"/>
            <a:ext cx="457200" cy="457200"/>
          </a:xfrm>
          <a:prstGeom prst="rect">
            <a:avLst/>
          </a:prstGeom>
        </p:spPr>
      </p:pic>
      <p:sp>
        <p:nvSpPr>
          <p:cNvPr id="15" name="user-title-3"/>
          <p:cNvSpPr/>
          <p:nvPr/>
        </p:nvSpPr>
        <p:spPr>
          <a:xfrm>
            <a:off x="10515600" y="44450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b="1" dirty="0">
                <a:solidFill>
                  <a:srgbClr val="F8F9FA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스마트도시·데이터 담당자</a:t>
            </a:r>
            <a:endParaRPr lang="en-US" sz="2000" b="1" dirty="0"/>
          </a:p>
        </p:txBody>
      </p:sp>
      <p:sp>
        <p:nvSpPr>
          <p:cNvPr id="16" name="user-text-3"/>
          <p:cNvSpPr/>
          <p:nvPr/>
        </p:nvSpPr>
        <p:spPr>
          <a:xfrm>
            <a:off x="10515600" y="5029200"/>
            <a:ext cx="3200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10"/>
              </a:lnSpc>
              <a:buNone/>
            </a:pPr>
            <a:r>
              <a:rPr lang="en-US" altLang="en-US" sz="1700" dirty="0">
                <a:solidFill>
                  <a:srgbClr val="9CA3AF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기관 내 데이터 활용과</a:t>
            </a:r>
            <a:endParaRPr lang="en-US" sz="1700" dirty="0"/>
          </a:p>
          <a:p>
            <a:pPr marL="0" indent="0" algn="l">
              <a:lnSpc>
                <a:spcPts val="2210"/>
              </a:lnSpc>
              <a:buNone/>
            </a:pPr>
            <a:r>
              <a:rPr lang="en-US" altLang="en-US" sz="1700" dirty="0">
                <a:solidFill>
                  <a:srgbClr val="9CA3AF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향후 API 연계를 검토</a:t>
            </a:r>
            <a:endParaRPr lang="en-US" sz="1700" dirty="0"/>
          </a:p>
        </p:txBody>
      </p:sp>
      <p:sp>
        <p:nvSpPr>
          <p:cNvPr id="17" name="question-box"/>
          <p:cNvSpPr/>
          <p:nvPr/>
        </p:nvSpPr>
        <p:spPr>
          <a:xfrm>
            <a:off x="762000" y="6629400"/>
            <a:ext cx="13462000" cy="1092200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8" name="question-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6959600"/>
            <a:ext cx="381000" cy="381000"/>
          </a:xfrm>
          <a:prstGeom prst="rect">
            <a:avLst/>
          </a:prstGeom>
        </p:spPr>
      </p:pic>
      <p:sp>
        <p:nvSpPr>
          <p:cNvPr id="19" name="question-text"/>
          <p:cNvSpPr/>
          <p:nvPr/>
        </p:nvSpPr>
        <p:spPr>
          <a:xfrm>
            <a:off x="1828800" y="6896100"/>
            <a:ext cx="11684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2300" dirty="0">
                <a:solidFill>
                  <a:srgbClr val="F8F9FA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“어느 지역에서, 어떤 변화가 나타나며, 무엇을 우선 검토해야 하는가?”</a:t>
            </a:r>
            <a:endParaRPr lang="en-US" sz="2300" dirty="0"/>
          </a:p>
        </p:txBody>
      </p:sp>
      <p:sp>
        <p:nvSpPr>
          <p:cNvPr id="20" name="source"/>
          <p:cNvSpPr/>
          <p:nvPr/>
        </p:nvSpPr>
        <p:spPr>
          <a:xfrm>
            <a:off x="762000" y="8509000"/>
            <a:ext cx="1016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300" dirty="0">
                <a:solidFill>
                  <a:srgbClr val="9CA3AF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출처: 첨부 시장조사요약 및 요구사항정의서 v1.2</a:t>
            </a:r>
            <a:endParaRPr lang="en-US" sz="1300" dirty="0"/>
          </a:p>
        </p:txBody>
      </p:sp>
      <p:sp>
        <p:nvSpPr>
          <p:cNvPr id="21" name="page"/>
          <p:cNvSpPr/>
          <p:nvPr/>
        </p:nvSpPr>
        <p:spPr>
          <a:xfrm>
            <a:off x="14859000" y="84836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9CA3AF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762000" y="685800"/>
            <a:ext cx="13208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400" b="1" dirty="0">
                <a:solidFill>
                  <a:srgbClr val="F8F9FA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지역 선택 한 번으로 분석 흐름을 완성합니다</a:t>
            </a:r>
            <a:endParaRPr lang="en-US" sz="3400" b="1" dirty="0"/>
          </a:p>
        </p:txBody>
      </p:sp>
      <p:sp>
        <p:nvSpPr>
          <p:cNvPr id="3" name="title-line"/>
          <p:cNvSpPr/>
          <p:nvPr/>
        </p:nvSpPr>
        <p:spPr>
          <a:xfrm>
            <a:off x="762000" y="1574800"/>
            <a:ext cx="1524000" cy="9144"/>
          </a:xfrm>
          <a:prstGeom prst="line">
            <a:avLst/>
          </a:prstGeom>
          <a:ln w="38100">
            <a:solidFill>
              <a:srgbClr val="00B4D8"/>
            </a:solidFill>
            <a:prstDash val="solid"/>
          </a:ln>
        </p:spPr>
      </p:sp>
      <p:sp>
        <p:nvSpPr>
          <p:cNvPr id="4" name="intro"/>
          <p:cNvSpPr/>
          <p:nvPr/>
        </p:nvSpPr>
        <p:spPr>
          <a:xfrm>
            <a:off x="762000" y="2159000"/>
            <a:ext cx="13208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100" dirty="0">
                <a:solidFill>
                  <a:srgbClr val="9CA3AF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사용자는 동일한 지역·연도 기준으로 현황을 확인하고, 비교·해석·공유까지 이어갑니다.</a:t>
            </a:r>
            <a:endParaRPr lang="en-US" sz="2100" dirty="0"/>
          </a:p>
        </p:txBody>
      </p:sp>
      <p:sp>
        <p:nvSpPr>
          <p:cNvPr id="5" name="step-1"/>
          <p:cNvSpPr/>
          <p:nvPr/>
        </p:nvSpPr>
        <p:spPr>
          <a:xfrm>
            <a:off x="762000" y="3530600"/>
            <a:ext cx="2159000" cy="1803400"/>
          </a:xfrm>
          <a:prstGeom prst="rect">
            <a:avLst/>
          </a:prstGeom>
          <a:solidFill>
            <a:srgbClr val="162238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6" name="step-1-num"/>
          <p:cNvSpPr/>
          <p:nvPr/>
        </p:nvSpPr>
        <p:spPr>
          <a:xfrm>
            <a:off x="990600" y="3759200"/>
            <a:ext cx="4318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00B4D8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01</a:t>
            </a:r>
            <a:endParaRPr lang="en-US" sz="1400" dirty="0"/>
          </a:p>
        </p:txBody>
      </p:sp>
      <p:pic>
        <p:nvPicPr>
          <p:cNvPr id="7" name="step-1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4191000"/>
            <a:ext cx="381000" cy="381000"/>
          </a:xfrm>
          <a:prstGeom prst="rect">
            <a:avLst/>
          </a:prstGeom>
        </p:spPr>
      </p:pic>
      <p:sp>
        <p:nvSpPr>
          <p:cNvPr id="8" name="step-1-text"/>
          <p:cNvSpPr/>
          <p:nvPr/>
        </p:nvSpPr>
        <p:spPr>
          <a:xfrm>
            <a:off x="990600" y="4749800"/>
            <a:ext cx="165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F8F9FA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지역·연도 선택</a:t>
            </a:r>
            <a:endParaRPr lang="en-US" sz="1800" dirty="0"/>
          </a:p>
        </p:txBody>
      </p:sp>
      <p:sp>
        <p:nvSpPr>
          <p:cNvPr id="9" name="arrow-1"/>
          <p:cNvSpPr/>
          <p:nvPr/>
        </p:nvSpPr>
        <p:spPr>
          <a:xfrm>
            <a:off x="2921000" y="4432300"/>
            <a:ext cx="254000" cy="9144"/>
          </a:xfrm>
          <a:prstGeom prst="line">
            <a:avLst/>
          </a:prstGeom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0" name="step-2"/>
          <p:cNvSpPr/>
          <p:nvPr/>
        </p:nvSpPr>
        <p:spPr>
          <a:xfrm>
            <a:off x="3175000" y="3530600"/>
            <a:ext cx="2159000" cy="1803400"/>
          </a:xfrm>
          <a:prstGeom prst="rect">
            <a:avLst/>
          </a:prstGeom>
          <a:solidFill>
            <a:srgbClr val="162238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1" name="step-2-num"/>
          <p:cNvSpPr/>
          <p:nvPr/>
        </p:nvSpPr>
        <p:spPr>
          <a:xfrm>
            <a:off x="3403600" y="3759200"/>
            <a:ext cx="4318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00B4D8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02</a:t>
            </a:r>
            <a:endParaRPr lang="en-US" sz="1400" dirty="0"/>
          </a:p>
        </p:txBody>
      </p:sp>
      <p:pic>
        <p:nvPicPr>
          <p:cNvPr id="12" name="step-2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3600" y="4191000"/>
            <a:ext cx="381000" cy="381000"/>
          </a:xfrm>
          <a:prstGeom prst="rect">
            <a:avLst/>
          </a:prstGeom>
        </p:spPr>
      </p:pic>
      <p:sp>
        <p:nvSpPr>
          <p:cNvPr id="13" name="step-2-text"/>
          <p:cNvSpPr/>
          <p:nvPr/>
        </p:nvSpPr>
        <p:spPr>
          <a:xfrm>
            <a:off x="3403600" y="4749800"/>
            <a:ext cx="1676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F8F9FA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등록·고령화 현황</a:t>
            </a:r>
            <a:endParaRPr lang="en-US" sz="1800" dirty="0"/>
          </a:p>
        </p:txBody>
      </p:sp>
      <p:sp>
        <p:nvSpPr>
          <p:cNvPr id="14" name="arrow-2"/>
          <p:cNvSpPr/>
          <p:nvPr/>
        </p:nvSpPr>
        <p:spPr>
          <a:xfrm>
            <a:off x="5334000" y="4432300"/>
            <a:ext cx="254000" cy="9144"/>
          </a:xfrm>
          <a:prstGeom prst="line">
            <a:avLst/>
          </a:prstGeom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5" name="step-3"/>
          <p:cNvSpPr/>
          <p:nvPr/>
        </p:nvSpPr>
        <p:spPr>
          <a:xfrm>
            <a:off x="5588000" y="3530600"/>
            <a:ext cx="2159000" cy="1803400"/>
          </a:xfrm>
          <a:prstGeom prst="rect">
            <a:avLst/>
          </a:prstGeom>
          <a:solidFill>
            <a:srgbClr val="162238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6" name="step-3-num"/>
          <p:cNvSpPr/>
          <p:nvPr/>
        </p:nvSpPr>
        <p:spPr>
          <a:xfrm>
            <a:off x="5816600" y="3759200"/>
            <a:ext cx="4318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00B4D8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03</a:t>
            </a:r>
            <a:endParaRPr lang="en-US" sz="1400" dirty="0"/>
          </a:p>
        </p:txBody>
      </p:sp>
      <p:pic>
        <p:nvPicPr>
          <p:cNvPr id="17" name="step-3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6600" y="4191000"/>
            <a:ext cx="381000" cy="381000"/>
          </a:xfrm>
          <a:prstGeom prst="rect">
            <a:avLst/>
          </a:prstGeom>
        </p:spPr>
      </p:pic>
      <p:sp>
        <p:nvSpPr>
          <p:cNvPr id="18" name="step-3-text"/>
          <p:cNvSpPr/>
          <p:nvPr/>
        </p:nvSpPr>
        <p:spPr>
          <a:xfrm>
            <a:off x="5816600" y="4749800"/>
            <a:ext cx="1676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F8F9FA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사고 규모·비율</a:t>
            </a:r>
            <a:endParaRPr lang="en-US" sz="1800" dirty="0"/>
          </a:p>
        </p:txBody>
      </p:sp>
      <p:sp>
        <p:nvSpPr>
          <p:cNvPr id="19" name="arrow-3"/>
          <p:cNvSpPr/>
          <p:nvPr/>
        </p:nvSpPr>
        <p:spPr>
          <a:xfrm>
            <a:off x="7747000" y="4432300"/>
            <a:ext cx="254000" cy="9144"/>
          </a:xfrm>
          <a:prstGeom prst="line">
            <a:avLst/>
          </a:prstGeom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0" name="step-4"/>
          <p:cNvSpPr/>
          <p:nvPr/>
        </p:nvSpPr>
        <p:spPr>
          <a:xfrm>
            <a:off x="8001000" y="3530600"/>
            <a:ext cx="2159000" cy="1803400"/>
          </a:xfrm>
          <a:prstGeom prst="rect">
            <a:avLst/>
          </a:prstGeom>
          <a:solidFill>
            <a:srgbClr val="162238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1" name="step-4-num"/>
          <p:cNvSpPr/>
          <p:nvPr/>
        </p:nvSpPr>
        <p:spPr>
          <a:xfrm>
            <a:off x="8229600" y="3759200"/>
            <a:ext cx="4318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00B4D8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04</a:t>
            </a:r>
            <a:endParaRPr lang="en-US" sz="1400" dirty="0"/>
          </a:p>
        </p:txBody>
      </p:sp>
      <p:pic>
        <p:nvPicPr>
          <p:cNvPr id="22" name="step-4-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4191000"/>
            <a:ext cx="381000" cy="381000"/>
          </a:xfrm>
          <a:prstGeom prst="rect">
            <a:avLst/>
          </a:prstGeom>
        </p:spPr>
      </p:pic>
      <p:sp>
        <p:nvSpPr>
          <p:cNvPr id="23" name="step-4-text"/>
          <p:cNvSpPr/>
          <p:nvPr/>
        </p:nvSpPr>
        <p:spPr>
          <a:xfrm>
            <a:off x="8229600" y="4749800"/>
            <a:ext cx="1676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F8F9FA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유형·심각도 분석</a:t>
            </a:r>
            <a:endParaRPr lang="en-US" sz="1800" dirty="0"/>
          </a:p>
        </p:txBody>
      </p:sp>
      <p:sp>
        <p:nvSpPr>
          <p:cNvPr id="24" name="arrow-4"/>
          <p:cNvSpPr/>
          <p:nvPr/>
        </p:nvSpPr>
        <p:spPr>
          <a:xfrm>
            <a:off x="10160000" y="4432300"/>
            <a:ext cx="254000" cy="9144"/>
          </a:xfrm>
          <a:prstGeom prst="line">
            <a:avLst/>
          </a:prstGeom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5" name="step-5"/>
          <p:cNvSpPr/>
          <p:nvPr/>
        </p:nvSpPr>
        <p:spPr>
          <a:xfrm>
            <a:off x="10414000" y="3530600"/>
            <a:ext cx="2159000" cy="1803400"/>
          </a:xfrm>
          <a:prstGeom prst="rect">
            <a:avLst/>
          </a:prstGeom>
          <a:solidFill>
            <a:srgbClr val="162238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6" name="step-5-num"/>
          <p:cNvSpPr/>
          <p:nvPr/>
        </p:nvSpPr>
        <p:spPr>
          <a:xfrm>
            <a:off x="10642600" y="3759200"/>
            <a:ext cx="4318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00B4D8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05</a:t>
            </a:r>
            <a:endParaRPr lang="en-US" sz="1400" dirty="0"/>
          </a:p>
        </p:txBody>
      </p:sp>
      <p:pic>
        <p:nvPicPr>
          <p:cNvPr id="27" name="step-5-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42600" y="4191000"/>
            <a:ext cx="381000" cy="381000"/>
          </a:xfrm>
          <a:prstGeom prst="rect">
            <a:avLst/>
          </a:prstGeom>
        </p:spPr>
      </p:pic>
      <p:sp>
        <p:nvSpPr>
          <p:cNvPr id="28" name="step-5-text"/>
          <p:cNvSpPr/>
          <p:nvPr/>
        </p:nvSpPr>
        <p:spPr>
          <a:xfrm>
            <a:off x="10642600" y="4749800"/>
            <a:ext cx="1727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F8F9FA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미래·정책 비교</a:t>
            </a:r>
            <a:endParaRPr lang="en-US" sz="1800" dirty="0"/>
          </a:p>
        </p:txBody>
      </p:sp>
      <p:sp>
        <p:nvSpPr>
          <p:cNvPr id="29" name="arrow-5"/>
          <p:cNvSpPr/>
          <p:nvPr/>
        </p:nvSpPr>
        <p:spPr>
          <a:xfrm>
            <a:off x="12573000" y="4432300"/>
            <a:ext cx="254000" cy="9144"/>
          </a:xfrm>
          <a:prstGeom prst="line">
            <a:avLst/>
          </a:prstGeom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30" name="step-6"/>
          <p:cNvSpPr/>
          <p:nvPr/>
        </p:nvSpPr>
        <p:spPr>
          <a:xfrm>
            <a:off x="12827000" y="3530600"/>
            <a:ext cx="2159000" cy="1803400"/>
          </a:xfrm>
          <a:prstGeom prst="rect">
            <a:avLst/>
          </a:prstGeom>
          <a:solidFill>
            <a:srgbClr val="162238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31" name="step-6-num"/>
          <p:cNvSpPr/>
          <p:nvPr/>
        </p:nvSpPr>
        <p:spPr>
          <a:xfrm>
            <a:off x="13055600" y="3759200"/>
            <a:ext cx="4318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00B4D8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06</a:t>
            </a:r>
            <a:endParaRPr lang="en-US" sz="1400" dirty="0"/>
          </a:p>
        </p:txBody>
      </p:sp>
      <p:pic>
        <p:nvPicPr>
          <p:cNvPr id="32" name="step-6-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55600" y="4191000"/>
            <a:ext cx="381000" cy="381000"/>
          </a:xfrm>
          <a:prstGeom prst="rect">
            <a:avLst/>
          </a:prstGeom>
        </p:spPr>
      </p:pic>
      <p:sp>
        <p:nvSpPr>
          <p:cNvPr id="33" name="step-6-text"/>
          <p:cNvSpPr/>
          <p:nvPr/>
        </p:nvSpPr>
        <p:spPr>
          <a:xfrm>
            <a:off x="13055600" y="4749800"/>
            <a:ext cx="1676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F8F9FA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보고서·의사결정</a:t>
            </a:r>
            <a:endParaRPr lang="en-US" sz="1800" dirty="0"/>
          </a:p>
        </p:txBody>
      </p:sp>
      <p:sp>
        <p:nvSpPr>
          <p:cNvPr id="34" name="principle-box"/>
          <p:cNvSpPr/>
          <p:nvPr/>
        </p:nvSpPr>
        <p:spPr>
          <a:xfrm>
            <a:off x="762000" y="6705600"/>
            <a:ext cx="14224000" cy="711200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principle-text"/>
          <p:cNvSpPr/>
          <p:nvPr/>
        </p:nvSpPr>
        <p:spPr>
          <a:xfrm>
            <a:off x="1066800" y="6896100"/>
            <a:ext cx="1358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2000" dirty="0">
                <a:solidFill>
                  <a:srgbClr val="F8F9FA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핵심 원칙: </a:t>
            </a:r>
            <a:r>
              <a:rPr lang="en-US" altLang="en-US" sz="2000" b="1" dirty="0">
                <a:solidFill>
                  <a:srgbClr val="00B4D8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지역·연도 기준을 통일</a:t>
            </a:r>
            <a:r>
              <a:rPr lang="en-US" altLang="en-US" sz="2000" dirty="0">
                <a:solidFill>
                  <a:srgbClr val="F8F9FA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하여 비교 가능한 정책 분석 단위를 만듭니다.</a:t>
            </a:r>
            <a:endParaRPr lang="en-US" sz="2000" dirty="0"/>
          </a:p>
        </p:txBody>
      </p:sp>
      <p:sp>
        <p:nvSpPr>
          <p:cNvPr id="36" name="source"/>
          <p:cNvSpPr/>
          <p:nvPr/>
        </p:nvSpPr>
        <p:spPr>
          <a:xfrm>
            <a:off x="762000" y="8509000"/>
            <a:ext cx="1041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300" dirty="0">
                <a:solidFill>
                  <a:srgbClr val="9CA3AF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출처: 요구사항정의서 RF-2.3, RF-3.3, RF-5.1~5.3</a:t>
            </a:r>
            <a:endParaRPr lang="en-US" sz="1300" dirty="0"/>
          </a:p>
        </p:txBody>
      </p:sp>
      <p:sp>
        <p:nvSpPr>
          <p:cNvPr id="37" name="page"/>
          <p:cNvSpPr/>
          <p:nvPr/>
        </p:nvSpPr>
        <p:spPr>
          <a:xfrm>
            <a:off x="14859000" y="84836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9CA3AF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762000" y="685800"/>
            <a:ext cx="1346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400" b="1" dirty="0">
                <a:solidFill>
                  <a:srgbClr val="F8F9FA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공식 출처와 표준 기준이 분석 신뢰도를 만듭니다</a:t>
            </a:r>
            <a:endParaRPr lang="en-US" sz="3400" b="1" dirty="0"/>
          </a:p>
        </p:txBody>
      </p:sp>
      <p:sp>
        <p:nvSpPr>
          <p:cNvPr id="3" name="title-line"/>
          <p:cNvSpPr/>
          <p:nvPr/>
        </p:nvSpPr>
        <p:spPr>
          <a:xfrm>
            <a:off x="762000" y="1574800"/>
            <a:ext cx="1524000" cy="9144"/>
          </a:xfrm>
          <a:prstGeom prst="line">
            <a:avLst/>
          </a:prstGeom>
          <a:ln w="38100">
            <a:solidFill>
              <a:srgbClr val="00B4D8"/>
            </a:solidFill>
            <a:prstDash val="solid"/>
          </a:ln>
        </p:spPr>
      </p:sp>
      <p:sp>
        <p:nvSpPr>
          <p:cNvPr id="4" name="intro"/>
          <p:cNvSpPr/>
          <p:nvPr/>
        </p:nvSpPr>
        <p:spPr>
          <a:xfrm>
            <a:off x="762000" y="2159000"/>
            <a:ext cx="1371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dirty="0">
                <a:solidFill>
                  <a:srgbClr val="9CA3AF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SAFE는 데이터의 출처·기준연도·제공 범위를 관리하고, 지역·연도 기준으로 분석 단위를 표준화합니다.</a:t>
            </a:r>
            <a:endParaRPr lang="en-US" sz="2000" dirty="0"/>
          </a:p>
        </p:txBody>
      </p:sp>
      <p:graphicFrame>
        <p:nvGraphicFramePr>
          <p:cNvPr id="8" name="sourc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997200"/>
          <a:ext cx="14224000" cy="3515359"/>
        </p:xfrm>
        <a:graphic>
          <a:graphicData uri="http://schemas.openxmlformats.org/drawingml/2006/table">
            <a:tbl>
              <a:tblPr/>
              <a:tblGrid>
                <a:gridCol w="21883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6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6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24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700" b="1" dirty="0">
                          <a:solidFill>
                            <a:srgbClr val="F8F9FA"/>
                          </a:solidFill>
                          <a:latin typeface="Noto Sans KR" pitchFamily="34" charset="0"/>
                          <a:ea typeface="Microsoft YaHei" pitchFamily="34" charset="-122"/>
                          <a:cs typeface="Noto Sans KR" pitchFamily="34" charset="-120"/>
                        </a:rPr>
                        <a:t>데이터 영역</a:t>
                      </a:r>
                      <a:endParaRPr lang="en-US" sz="1700" dirty="0">
                        <a:latin typeface="Noto Sans KR" charset="0"/>
                        <a:ea typeface="Microsoft YaHei" charset="0"/>
                        <a:cs typeface="Noto Sans KR" charset="0"/>
                      </a:endParaRPr>
                    </a:p>
                  </a:txBody>
                  <a:tcPr marL="177800" marR="177800" marT="127000" marB="1270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700" b="1" dirty="0">
                          <a:solidFill>
                            <a:srgbClr val="F8F9FA"/>
                          </a:solidFill>
                          <a:latin typeface="Noto Sans KR" pitchFamily="34" charset="0"/>
                          <a:ea typeface="Microsoft YaHei" pitchFamily="34" charset="-122"/>
                          <a:cs typeface="Noto Sans KR" pitchFamily="34" charset="-120"/>
                        </a:rPr>
                        <a:t>주요 지표</a:t>
                      </a:r>
                      <a:endParaRPr lang="en-US" sz="1700" dirty="0">
                        <a:latin typeface="Noto Sans KR" charset="0"/>
                        <a:ea typeface="Microsoft YaHei" charset="0"/>
                        <a:cs typeface="Noto Sans KR" charset="0"/>
                      </a:endParaRPr>
                    </a:p>
                  </a:txBody>
                  <a:tcPr marL="177800" marR="177800" marT="127000" marB="127000" anchor="ctr">
                    <a:lnL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700" b="1" dirty="0">
                          <a:solidFill>
                            <a:srgbClr val="F8F9FA"/>
                          </a:solidFill>
                          <a:latin typeface="Noto Sans KR" pitchFamily="34" charset="0"/>
                          <a:ea typeface="Microsoft YaHei" pitchFamily="34" charset="-122"/>
                          <a:cs typeface="Noto Sans KR" pitchFamily="34" charset="-120"/>
                        </a:rPr>
                        <a:t>대표 원천</a:t>
                      </a:r>
                      <a:endParaRPr lang="en-US" sz="1700" dirty="0">
                        <a:latin typeface="Noto Sans KR" charset="0"/>
                        <a:ea typeface="Microsoft YaHei" charset="0"/>
                        <a:cs typeface="Noto Sans KR" charset="0"/>
                      </a:endParaRPr>
                    </a:p>
                  </a:txBody>
                  <a:tcPr marL="177800" marR="177800" marT="127000" marB="127000" anchor="ctr">
                    <a:lnL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700" b="1" dirty="0">
                          <a:solidFill>
                            <a:srgbClr val="F8F9FA"/>
                          </a:solidFill>
                          <a:latin typeface="Noto Sans KR" pitchFamily="34" charset="0"/>
                          <a:ea typeface="Microsoft YaHei" pitchFamily="34" charset="-122"/>
                          <a:cs typeface="Noto Sans KR" pitchFamily="34" charset="-120"/>
                        </a:rPr>
                        <a:t>분석 활용</a:t>
                      </a:r>
                      <a:endParaRPr lang="en-US" sz="1700" dirty="0">
                        <a:latin typeface="Noto Sans KR" charset="0"/>
                        <a:ea typeface="Microsoft YaHei" charset="0"/>
                        <a:cs typeface="Noto Sans KR" charset="0"/>
                      </a:endParaRPr>
                    </a:p>
                  </a:txBody>
                  <a:tcPr marL="177800" marR="177800" marT="127000" marB="127000" anchor="ctr">
                    <a:lnL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19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700" dirty="0">
                          <a:solidFill>
                            <a:srgbClr val="F8F9FA"/>
                          </a:solidFill>
                          <a:latin typeface="Noto Sans KR" pitchFamily="34" charset="0"/>
                          <a:ea typeface="Microsoft YaHei" pitchFamily="34" charset="-122"/>
                          <a:cs typeface="Noto Sans KR" pitchFamily="34" charset="-120"/>
                        </a:rPr>
                        <a:t>인구·장래인구</a:t>
                      </a:r>
                      <a:endParaRPr lang="en-US" sz="1700" dirty="0">
                        <a:latin typeface="Noto Sans KR" charset="0"/>
                        <a:ea typeface="Microsoft YaHei" charset="0"/>
                        <a:cs typeface="Noto Sans KR" charset="0"/>
                      </a:endParaRPr>
                    </a:p>
                  </a:txBody>
                  <a:tcPr marL="177800" marR="177800" marT="127000" marB="1270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700" dirty="0">
                          <a:solidFill>
                            <a:srgbClr val="F8F9FA"/>
                          </a:solidFill>
                          <a:latin typeface="Noto Sans KR" pitchFamily="34" charset="0"/>
                          <a:ea typeface="Microsoft YaHei" pitchFamily="34" charset="-122"/>
                          <a:cs typeface="Noto Sans KR" pitchFamily="34" charset="-120"/>
                        </a:rPr>
                        <a:t>총인구, 65세 이상 인구, 고령화율, 2030·2035 전망</a:t>
                      </a:r>
                      <a:endParaRPr lang="en-US" sz="1700" dirty="0">
                        <a:latin typeface="Noto Sans KR" charset="0"/>
                        <a:ea typeface="Microsoft YaHei" charset="0"/>
                        <a:cs typeface="Noto Sans KR" charset="0"/>
                      </a:endParaRPr>
                    </a:p>
                  </a:txBody>
                  <a:tcPr marL="177800" marR="177800" marT="127000" marB="127000" anchor="ctr">
                    <a:lnL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700" dirty="0">
                          <a:solidFill>
                            <a:srgbClr val="F8F9FA"/>
                          </a:solidFill>
                          <a:latin typeface="Noto Sans KR" pitchFamily="34" charset="0"/>
                          <a:ea typeface="Microsoft YaHei" pitchFamily="34" charset="-122"/>
                          <a:cs typeface="Noto Sans KR" pitchFamily="34" charset="-120"/>
                        </a:rPr>
                        <a:t>KOSIS 국가통계포털</a:t>
                      </a:r>
                      <a:endParaRPr lang="en-US" sz="1700" dirty="0">
                        <a:latin typeface="Noto Sans KR" charset="0"/>
                        <a:ea typeface="Microsoft YaHei" charset="0"/>
                        <a:cs typeface="Noto Sans KR" charset="0"/>
                      </a:endParaRPr>
                    </a:p>
                  </a:txBody>
                  <a:tcPr marL="177800" marR="177800" marT="127000" marB="127000" anchor="ctr">
                    <a:lnL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700" dirty="0">
                          <a:solidFill>
                            <a:srgbClr val="F8F9FA"/>
                          </a:solidFill>
                          <a:latin typeface="Noto Sans KR" pitchFamily="34" charset="0"/>
                          <a:ea typeface="Microsoft YaHei" pitchFamily="34" charset="-122"/>
                          <a:cs typeface="Noto Sans KR" pitchFamily="34" charset="-120"/>
                        </a:rPr>
                        <a:t>현재·미래 변화 비교</a:t>
                      </a:r>
                      <a:endParaRPr lang="en-US" sz="1700" dirty="0">
                        <a:latin typeface="Noto Sans KR" charset="0"/>
                        <a:ea typeface="Microsoft YaHei" charset="0"/>
                        <a:cs typeface="Noto Sans KR" charset="0"/>
                      </a:endParaRPr>
                    </a:p>
                  </a:txBody>
                  <a:tcPr marL="177800" marR="177800" marT="127000" marB="127000" anchor="ctr">
                    <a:lnL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19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700" dirty="0">
                          <a:solidFill>
                            <a:srgbClr val="F8F9FA"/>
                          </a:solidFill>
                          <a:latin typeface="Noto Sans KR" pitchFamily="34" charset="0"/>
                          <a:ea typeface="Microsoft YaHei" pitchFamily="34" charset="-122"/>
                          <a:cs typeface="Noto Sans KR" pitchFamily="34" charset="-120"/>
                        </a:rPr>
                        <a:t>자동차 등록</a:t>
                      </a:r>
                      <a:endParaRPr lang="en-US" sz="1700" dirty="0">
                        <a:latin typeface="Noto Sans KR" charset="0"/>
                        <a:ea typeface="Microsoft YaHei" charset="0"/>
                        <a:cs typeface="Noto Sans KR" charset="0"/>
                      </a:endParaRPr>
                    </a:p>
                  </a:txBody>
                  <a:tcPr marL="177800" marR="177800" marT="127000" marB="1270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700" dirty="0">
                          <a:solidFill>
                            <a:srgbClr val="F8F9FA"/>
                          </a:solidFill>
                          <a:latin typeface="Noto Sans KR" pitchFamily="34" charset="0"/>
                          <a:ea typeface="Microsoft YaHei" pitchFamily="34" charset="-122"/>
                          <a:cs typeface="Noto Sans KR" pitchFamily="34" charset="-120"/>
                        </a:rPr>
                        <a:t>지역·연도·차종별 등록, 신규·말소</a:t>
                      </a:r>
                      <a:endParaRPr lang="en-US" sz="1700" dirty="0">
                        <a:latin typeface="Noto Sans KR" charset="0"/>
                        <a:ea typeface="Microsoft YaHei" charset="0"/>
                        <a:cs typeface="Noto Sans KR" charset="0"/>
                      </a:endParaRPr>
                    </a:p>
                  </a:txBody>
                  <a:tcPr marL="177800" marR="177800" marT="127000" marB="127000" anchor="ctr">
                    <a:lnL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700" dirty="0">
                          <a:solidFill>
                            <a:srgbClr val="F8F9FA"/>
                          </a:solidFill>
                          <a:latin typeface="Noto Sans KR" pitchFamily="34" charset="0"/>
                          <a:ea typeface="Microsoft YaHei" pitchFamily="34" charset="-122"/>
                          <a:cs typeface="Noto Sans KR" pitchFamily="34" charset="-120"/>
                        </a:rPr>
                        <a:t>국토교통 통계·자동차365</a:t>
                      </a:r>
                      <a:endParaRPr lang="en-US" sz="1700" dirty="0">
                        <a:latin typeface="Noto Sans KR" charset="0"/>
                        <a:ea typeface="Microsoft YaHei" charset="0"/>
                        <a:cs typeface="Noto Sans KR" charset="0"/>
                      </a:endParaRPr>
                    </a:p>
                  </a:txBody>
                  <a:tcPr marL="177800" marR="177800" marT="127000" marB="127000" anchor="ctr">
                    <a:lnL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700" dirty="0">
                          <a:solidFill>
                            <a:srgbClr val="F8F9FA"/>
                          </a:solidFill>
                          <a:latin typeface="Noto Sans KR" pitchFamily="34" charset="0"/>
                          <a:ea typeface="Microsoft YaHei" pitchFamily="34" charset="-122"/>
                          <a:cs typeface="Noto Sans KR" pitchFamily="34" charset="-120"/>
                        </a:rPr>
                        <a:t>규모 대비 비교</a:t>
                      </a:r>
                      <a:endParaRPr lang="en-US" sz="1700" dirty="0">
                        <a:latin typeface="Noto Sans KR" charset="0"/>
                        <a:ea typeface="Microsoft YaHei" charset="0"/>
                        <a:cs typeface="Noto Sans KR" charset="0"/>
                      </a:endParaRPr>
                    </a:p>
                  </a:txBody>
                  <a:tcPr marL="177800" marR="177800" marT="127000" marB="127000" anchor="ctr">
                    <a:lnL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19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700" dirty="0">
                          <a:solidFill>
                            <a:srgbClr val="F8F9FA"/>
                          </a:solidFill>
                          <a:latin typeface="Noto Sans KR" pitchFamily="34" charset="0"/>
                          <a:ea typeface="Microsoft YaHei" pitchFamily="34" charset="-122"/>
                          <a:cs typeface="Noto Sans KR" pitchFamily="34" charset="-120"/>
                        </a:rPr>
                        <a:t>교통사고</a:t>
                      </a:r>
                      <a:endParaRPr lang="en-US" sz="1700" dirty="0">
                        <a:latin typeface="Noto Sans KR" charset="0"/>
                        <a:ea typeface="Microsoft YaHei" charset="0"/>
                        <a:cs typeface="Noto Sans KR" charset="0"/>
                      </a:endParaRPr>
                    </a:p>
                  </a:txBody>
                  <a:tcPr marL="177800" marR="177800" marT="127000" marB="1270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700" dirty="0">
                          <a:solidFill>
                            <a:srgbClr val="F8F9FA"/>
                          </a:solidFill>
                          <a:latin typeface="Noto Sans KR" pitchFamily="34" charset="0"/>
                          <a:ea typeface="Microsoft YaHei" pitchFamily="34" charset="-122"/>
                          <a:cs typeface="Noto Sans KR" pitchFamily="34" charset="-120"/>
                        </a:rPr>
                        <a:t>고령운전자 사고, 유형, 시간대, 심각도</a:t>
                      </a:r>
                      <a:endParaRPr lang="en-US" sz="1700" dirty="0">
                        <a:latin typeface="Noto Sans KR" charset="0"/>
                        <a:ea typeface="Microsoft YaHei" charset="0"/>
                        <a:cs typeface="Noto Sans KR" charset="0"/>
                      </a:endParaRPr>
                    </a:p>
                  </a:txBody>
                  <a:tcPr marL="177800" marR="177800" marT="127000" marB="127000" anchor="ctr">
                    <a:lnL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700" dirty="0">
                          <a:solidFill>
                            <a:srgbClr val="F8F9FA"/>
                          </a:solidFill>
                          <a:latin typeface="Noto Sans KR" pitchFamily="34" charset="0"/>
                          <a:ea typeface="Microsoft YaHei" pitchFamily="34" charset="-122"/>
                          <a:cs typeface="Noto Sans KR" pitchFamily="34" charset="-120"/>
                        </a:rPr>
                        <a:t>TAAS·TMACS</a:t>
                      </a:r>
                      <a:endParaRPr lang="en-US" sz="1700" dirty="0">
                        <a:latin typeface="Noto Sans KR" charset="0"/>
                        <a:ea typeface="Microsoft YaHei" charset="0"/>
                        <a:cs typeface="Noto Sans KR" charset="0"/>
                      </a:endParaRPr>
                    </a:p>
                  </a:txBody>
                  <a:tcPr marL="177800" marR="177800" marT="127000" marB="127000" anchor="ctr">
                    <a:lnL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700" dirty="0">
                          <a:solidFill>
                            <a:srgbClr val="F8F9FA"/>
                          </a:solidFill>
                          <a:latin typeface="Noto Sans KR" pitchFamily="34" charset="0"/>
                          <a:ea typeface="Microsoft YaHei" pitchFamily="34" charset="-122"/>
                          <a:cs typeface="Noto Sans KR" pitchFamily="34" charset="-120"/>
                        </a:rPr>
                        <a:t>사고 특성 분석</a:t>
                      </a:r>
                      <a:endParaRPr lang="en-US" sz="1700" dirty="0">
                        <a:latin typeface="Noto Sans KR" charset="0"/>
                        <a:ea typeface="Microsoft YaHei" charset="0"/>
                        <a:cs typeface="Noto Sans KR" charset="0"/>
                      </a:endParaRPr>
                    </a:p>
                  </a:txBody>
                  <a:tcPr marL="177800" marR="177800" marT="127000" marB="127000" anchor="ctr">
                    <a:lnL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19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700" dirty="0">
                          <a:solidFill>
                            <a:srgbClr val="F8F9FA"/>
                          </a:solidFill>
                          <a:latin typeface="Noto Sans KR" pitchFamily="34" charset="0"/>
                          <a:ea typeface="Microsoft YaHei" pitchFamily="34" charset="-122"/>
                          <a:cs typeface="Noto Sans KR" pitchFamily="34" charset="-120"/>
                        </a:rPr>
                        <a:t>면허·정책</a:t>
                      </a:r>
                      <a:endParaRPr lang="en-US" sz="1700" dirty="0">
                        <a:latin typeface="Noto Sans KR" charset="0"/>
                        <a:ea typeface="Microsoft YaHei" charset="0"/>
                        <a:cs typeface="Noto Sans KR" charset="0"/>
                      </a:endParaRPr>
                    </a:p>
                  </a:txBody>
                  <a:tcPr marL="177800" marR="177800" marT="127000" marB="1270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B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700" dirty="0">
                          <a:solidFill>
                            <a:srgbClr val="F8F9FA"/>
                          </a:solidFill>
                          <a:latin typeface="Noto Sans KR" pitchFamily="34" charset="0"/>
                          <a:ea typeface="Microsoft YaHei" pitchFamily="34" charset="-122"/>
                          <a:cs typeface="Noto Sans KR" pitchFamily="34" charset="-120"/>
                        </a:rPr>
                        <a:t>면허 소지·자진반납, 지원정책, 시행일</a:t>
                      </a:r>
                      <a:endParaRPr lang="en-US" sz="1700" dirty="0">
                        <a:latin typeface="Noto Sans KR" charset="0"/>
                        <a:ea typeface="Microsoft YaHei" charset="0"/>
                        <a:cs typeface="Noto Sans KR" charset="0"/>
                      </a:endParaRPr>
                    </a:p>
                  </a:txBody>
                  <a:tcPr marL="177800" marR="177800" marT="127000" marB="127000" anchor="ctr">
                    <a:lnL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B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700" dirty="0">
                          <a:solidFill>
                            <a:srgbClr val="F8F9FA"/>
                          </a:solidFill>
                          <a:latin typeface="Noto Sans KR" pitchFamily="34" charset="0"/>
                          <a:ea typeface="Microsoft YaHei" pitchFamily="34" charset="-122"/>
                          <a:cs typeface="Noto Sans KR" pitchFamily="34" charset="-120"/>
                        </a:rPr>
                        <a:t>공식 정부·지자체 자료</a:t>
                      </a:r>
                      <a:endParaRPr lang="en-US" sz="1700" dirty="0">
                        <a:latin typeface="Noto Sans KR" charset="0"/>
                        <a:ea typeface="Microsoft YaHei" charset="0"/>
                        <a:cs typeface="Noto Sans KR" charset="0"/>
                      </a:endParaRPr>
                    </a:p>
                  </a:txBody>
                  <a:tcPr marL="177800" marR="177800" marT="127000" marB="127000" anchor="ctr">
                    <a:lnL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B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en-US" sz="1700" dirty="0">
                          <a:solidFill>
                            <a:srgbClr val="F8F9FA"/>
                          </a:solidFill>
                          <a:latin typeface="Noto Sans KR" pitchFamily="34" charset="0"/>
                          <a:ea typeface="Microsoft YaHei" pitchFamily="34" charset="-122"/>
                          <a:cs typeface="Noto Sans KR" pitchFamily="34" charset="-120"/>
                        </a:rPr>
                        <a:t>정책 비교·해석</a:t>
                      </a:r>
                      <a:endParaRPr lang="en-US" sz="1700" dirty="0">
                        <a:latin typeface="Noto Sans KR" charset="0"/>
                        <a:ea typeface="Microsoft YaHei" charset="0"/>
                        <a:cs typeface="Noto Sans KR" charset="0"/>
                      </a:endParaRPr>
                    </a:p>
                  </a:txBody>
                  <a:tcPr marL="177800" marR="177800" marT="127000" marB="127000" anchor="ctr">
                    <a:lnL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1B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ule-1"/>
          <p:cNvSpPr/>
          <p:nvPr/>
        </p:nvSpPr>
        <p:spPr>
          <a:xfrm>
            <a:off x="762000" y="6985000"/>
            <a:ext cx="4445000" cy="762000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rule-1-text"/>
          <p:cNvSpPr/>
          <p:nvPr/>
        </p:nvSpPr>
        <p:spPr>
          <a:xfrm>
            <a:off x="990600" y="7188200"/>
            <a:ext cx="3987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800" b="1" dirty="0">
                <a:solidFill>
                  <a:srgbClr val="00B4D8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지역</a:t>
            </a:r>
            <a:r>
              <a:rPr lang="en-US" altLang="en-US" sz="1800" dirty="0">
                <a:solidFill>
                  <a:srgbClr val="F8F9FA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 기준 표준화</a:t>
            </a:r>
            <a:endParaRPr lang="en-US" sz="1800" dirty="0"/>
          </a:p>
        </p:txBody>
      </p:sp>
      <p:sp>
        <p:nvSpPr>
          <p:cNvPr id="5" name="rule-2"/>
          <p:cNvSpPr/>
          <p:nvPr/>
        </p:nvSpPr>
        <p:spPr>
          <a:xfrm>
            <a:off x="5651500" y="6985000"/>
            <a:ext cx="4445000" cy="762000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rule-2-text"/>
          <p:cNvSpPr/>
          <p:nvPr/>
        </p:nvSpPr>
        <p:spPr>
          <a:xfrm>
            <a:off x="5880100" y="7188200"/>
            <a:ext cx="3987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800" b="1" dirty="0">
                <a:solidFill>
                  <a:srgbClr val="00B4D8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연도</a:t>
            </a:r>
            <a:r>
              <a:rPr lang="en-US" altLang="en-US" sz="1800" dirty="0">
                <a:solidFill>
                  <a:srgbClr val="F8F9FA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 기준 표준화</a:t>
            </a:r>
            <a:endParaRPr lang="en-US" sz="1800" dirty="0"/>
          </a:p>
        </p:txBody>
      </p:sp>
      <p:sp>
        <p:nvSpPr>
          <p:cNvPr id="10" name="rule-3"/>
          <p:cNvSpPr/>
          <p:nvPr/>
        </p:nvSpPr>
        <p:spPr>
          <a:xfrm>
            <a:off x="10541000" y="6985000"/>
            <a:ext cx="4445000" cy="762000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rule-3-text"/>
          <p:cNvSpPr/>
          <p:nvPr/>
        </p:nvSpPr>
        <p:spPr>
          <a:xfrm>
            <a:off x="10769600" y="7188200"/>
            <a:ext cx="3987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800" b="1" dirty="0">
                <a:solidFill>
                  <a:srgbClr val="00B4D8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관측값·추계값</a:t>
            </a:r>
            <a:r>
              <a:rPr lang="en-US" altLang="en-US" sz="1800" dirty="0">
                <a:solidFill>
                  <a:srgbClr val="F8F9FA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 명확히 구분</a:t>
            </a:r>
            <a:endParaRPr lang="en-US" sz="1800" dirty="0"/>
          </a:p>
        </p:txBody>
      </p:sp>
      <p:sp>
        <p:nvSpPr>
          <p:cNvPr id="12" name="source"/>
          <p:cNvSpPr/>
          <p:nvPr/>
        </p:nvSpPr>
        <p:spPr>
          <a:xfrm>
            <a:off x="762000" y="8509000"/>
            <a:ext cx="990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300" dirty="0">
                <a:solidFill>
                  <a:srgbClr val="9CA3AF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출처: 첨부 데이터정의서 및 요구사항정의서 NFR-2.1~2.2</a:t>
            </a:r>
            <a:endParaRPr lang="en-US" sz="1300" dirty="0"/>
          </a:p>
        </p:txBody>
      </p:sp>
      <p:sp>
        <p:nvSpPr>
          <p:cNvPr id="13" name="page"/>
          <p:cNvSpPr/>
          <p:nvPr/>
        </p:nvSpPr>
        <p:spPr>
          <a:xfrm>
            <a:off x="14859000" y="84836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9CA3AF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762000" y="685800"/>
            <a:ext cx="1346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ko-KR" altLang="en-US" sz="3400" b="1" dirty="0">
                <a:solidFill>
                  <a:srgbClr val="F8F9FA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사용되는 데이터입니다</a:t>
            </a:r>
            <a:endParaRPr lang="en-US" sz="3400" b="1" dirty="0"/>
          </a:p>
        </p:txBody>
      </p:sp>
      <p:sp>
        <p:nvSpPr>
          <p:cNvPr id="3" name="title-line"/>
          <p:cNvSpPr/>
          <p:nvPr/>
        </p:nvSpPr>
        <p:spPr>
          <a:xfrm>
            <a:off x="762000" y="1574800"/>
            <a:ext cx="1524000" cy="9144"/>
          </a:xfrm>
          <a:prstGeom prst="line">
            <a:avLst/>
          </a:prstGeom>
          <a:ln w="38100">
            <a:solidFill>
              <a:srgbClr val="00B4D8"/>
            </a:solidFill>
            <a:prstDash val="solid"/>
          </a:ln>
        </p:spPr>
      </p:sp>
      <p:sp>
        <p:nvSpPr>
          <p:cNvPr id="13" name="page"/>
          <p:cNvSpPr/>
          <p:nvPr/>
        </p:nvSpPr>
        <p:spPr>
          <a:xfrm>
            <a:off x="14859000" y="84836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9CA3AF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08</a:t>
            </a:r>
            <a:endParaRPr lang="en-US" sz="1400" dirty="0"/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A472D401-50C9-4571-A78A-ED29D4A9B3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762719"/>
              </p:ext>
            </p:extLst>
          </p:nvPr>
        </p:nvGraphicFramePr>
        <p:xfrm>
          <a:off x="835062" y="1864215"/>
          <a:ext cx="14585875" cy="69232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6466">
                  <a:extLst>
                    <a:ext uri="{9D8B030D-6E8A-4147-A177-3AD203B41FA5}">
                      <a16:colId xmlns:a16="http://schemas.microsoft.com/office/drawing/2014/main" val="1102569489"/>
                    </a:ext>
                  </a:extLst>
                </a:gridCol>
                <a:gridCol w="1623158">
                  <a:extLst>
                    <a:ext uri="{9D8B030D-6E8A-4147-A177-3AD203B41FA5}">
                      <a16:colId xmlns:a16="http://schemas.microsoft.com/office/drawing/2014/main" val="1104787564"/>
                    </a:ext>
                  </a:extLst>
                </a:gridCol>
                <a:gridCol w="4135187">
                  <a:extLst>
                    <a:ext uri="{9D8B030D-6E8A-4147-A177-3AD203B41FA5}">
                      <a16:colId xmlns:a16="http://schemas.microsoft.com/office/drawing/2014/main" val="2356133746"/>
                    </a:ext>
                  </a:extLst>
                </a:gridCol>
                <a:gridCol w="1690789">
                  <a:extLst>
                    <a:ext uri="{9D8B030D-6E8A-4147-A177-3AD203B41FA5}">
                      <a16:colId xmlns:a16="http://schemas.microsoft.com/office/drawing/2014/main" val="3563125042"/>
                    </a:ext>
                  </a:extLst>
                </a:gridCol>
                <a:gridCol w="4122306">
                  <a:extLst>
                    <a:ext uri="{9D8B030D-6E8A-4147-A177-3AD203B41FA5}">
                      <a16:colId xmlns:a16="http://schemas.microsoft.com/office/drawing/2014/main" val="1252866546"/>
                    </a:ext>
                  </a:extLst>
                </a:gridCol>
                <a:gridCol w="2627969">
                  <a:extLst>
                    <a:ext uri="{9D8B030D-6E8A-4147-A177-3AD203B41FA5}">
                      <a16:colId xmlns:a16="http://schemas.microsoft.com/office/drawing/2014/main" val="17168936"/>
                    </a:ext>
                  </a:extLst>
                </a:gridCol>
              </a:tblGrid>
              <a:tr h="60017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NO</a:t>
                      </a:r>
                      <a:endParaRPr 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24" marR="9024" marT="902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데이터명</a:t>
                      </a:r>
                      <a:endParaRPr lang="ko-KR" alt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24" marR="9024" marT="902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설명</a:t>
                      </a:r>
                      <a:endParaRPr lang="ko-KR" alt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24" marR="9024" marT="902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관련 요구사항</a:t>
                      </a:r>
                      <a:r>
                        <a:rPr lang="en-US" altLang="ko-K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(RF)</a:t>
                      </a:r>
                      <a:endParaRPr lang="en-US" altLang="ko-KR" sz="1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24" marR="9024" marT="902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수집 파일</a:t>
                      </a:r>
                      <a:endParaRPr lang="ko-KR" alt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24" marR="9024" marT="902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출처</a:t>
                      </a:r>
                      <a:endParaRPr lang="ko-KR" alt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24" marR="9024" marT="902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57765"/>
                  </a:ext>
                </a:extLst>
              </a:tr>
              <a:tr h="7769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n-US" altLang="ko-KR" sz="1400" b="0" i="0" u="none" strike="noStrike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24" marR="9024" marT="902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인구 관련 데이터</a:t>
                      </a:r>
                      <a:endParaRPr lang="ko-KR" altLang="en-US" sz="1400" b="0" i="0" u="none" strike="noStrike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24" marR="9024" marT="902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지역</a:t>
                      </a:r>
                      <a:r>
                        <a:rPr lang="en-US" altLang="ko-KR" sz="1400" u="none" strike="noStrike">
                          <a:solidFill>
                            <a:schemeClr val="bg1"/>
                          </a:solidFill>
                          <a:effectLst/>
                        </a:rPr>
                        <a:t>·</a:t>
                      </a:r>
                      <a:r>
                        <a:rPr lang="ko-KR" alt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연도</a:t>
                      </a:r>
                      <a:r>
                        <a:rPr lang="en-US" altLang="ko-KR" sz="1400" u="none" strike="noStrike">
                          <a:solidFill>
                            <a:schemeClr val="bg1"/>
                          </a:solidFill>
                          <a:effectLst/>
                        </a:rPr>
                        <a:t>·</a:t>
                      </a:r>
                      <a:r>
                        <a:rPr lang="ko-KR" alt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연령대별 인구 현황을 제공하여 지역별 인구 특성을 분석하기 위한 데이터</a:t>
                      </a:r>
                      <a:endParaRPr lang="ko-KR" altLang="en-US" sz="1400" b="0" i="0" u="none" strike="noStrike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24" marR="9024" marT="902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RF-2.0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24" marR="9024" marT="902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행정안전부</a:t>
                      </a:r>
                      <a:r>
                        <a:rPr lang="en-US" altLang="ko-KR" sz="1400" u="none" strike="noStrike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r>
                        <a:rPr lang="ko-KR" alt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주민등록인구및세대현황</a:t>
                      </a:r>
                      <a:r>
                        <a:rPr lang="en-US" altLang="ko-KR" sz="1400" u="none" strike="noStrike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r>
                        <a:rPr lang="ko-KR" alt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월간</a:t>
                      </a:r>
                      <a:r>
                        <a:rPr lang="en-US" altLang="ko-KR" sz="1400" u="none" strike="noStrike">
                          <a:solidFill>
                            <a:schemeClr val="bg1"/>
                          </a:solidFill>
                          <a:effectLst/>
                        </a:rPr>
                        <a:t>.csv</a:t>
                      </a:r>
                      <a:br>
                        <a:rPr lang="en-US" altLang="ko-KR" sz="1400" u="none" strike="noStrike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altLang="ko-KR" sz="1400" u="none" strike="noStrike">
                          <a:solidFill>
                            <a:schemeClr val="bg1"/>
                          </a:solidFill>
                          <a:effectLst/>
                        </a:rPr>
                        <a:t>e-</a:t>
                      </a:r>
                      <a:r>
                        <a:rPr lang="ko-KR" alt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나라지표</a:t>
                      </a:r>
                      <a:r>
                        <a:rPr lang="en-US" altLang="ko-KR" sz="1400" u="none" strike="noStrike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r>
                        <a:rPr lang="ko-KR" alt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지역별 인구</a:t>
                      </a:r>
                      <a:r>
                        <a:rPr lang="en-US" altLang="ko-KR" sz="1400" u="none" strike="noStrike">
                          <a:solidFill>
                            <a:schemeClr val="bg1"/>
                          </a:solidFill>
                          <a:effectLst/>
                        </a:rPr>
                        <a:t>.xlsx</a:t>
                      </a:r>
                      <a:endParaRPr lang="en-US" altLang="ko-KR" sz="1400" b="0" i="0" u="none" strike="noStrike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24" marR="9024" marT="902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행정안전부</a:t>
                      </a:r>
                      <a:r>
                        <a:rPr lang="en-US" altLang="ko-KR" sz="1400" u="none" strike="noStrike">
                          <a:solidFill>
                            <a:schemeClr val="bg1"/>
                          </a:solidFill>
                          <a:effectLst/>
                        </a:rPr>
                        <a:t>,</a:t>
                      </a:r>
                      <a:br>
                        <a:rPr lang="en-US" altLang="ko-KR" sz="1400" u="none" strike="noStrike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altLang="ko-KR" sz="1400" u="none" strike="noStrike">
                          <a:solidFill>
                            <a:schemeClr val="bg1"/>
                          </a:solidFill>
                          <a:effectLst/>
                        </a:rPr>
                        <a:t>e-</a:t>
                      </a:r>
                      <a:r>
                        <a:rPr lang="ko-KR" alt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나라지표</a:t>
                      </a:r>
                      <a:endParaRPr lang="ko-KR" altLang="en-US" sz="1400" b="0" i="0" u="none" strike="noStrike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24" marR="9024" marT="902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337792"/>
                  </a:ext>
                </a:extLst>
              </a:tr>
              <a:tr h="13874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en-US" altLang="ko-KR" sz="1400" b="0" i="0" u="none" strike="noStrike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24" marR="9024" marT="902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자동차 관련 데이터</a:t>
                      </a:r>
                      <a:endParaRPr lang="ko-KR" altLang="en-US" sz="1400" b="0" i="0" u="none" strike="noStrike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24" marR="9024" marT="902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지역</a:t>
                      </a:r>
                      <a:r>
                        <a:rPr lang="en-US" altLang="ko-KR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·</a:t>
                      </a:r>
                      <a:r>
                        <a:rPr lang="ko-KR" alt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차종</a:t>
                      </a:r>
                      <a:r>
                        <a:rPr lang="en-US" altLang="ko-KR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·</a:t>
                      </a:r>
                      <a:r>
                        <a:rPr lang="ko-KR" altLang="en-US" sz="14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연료별</a:t>
                      </a:r>
                      <a:r>
                        <a:rPr lang="ko-KR" alt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자동차 등록 현황을 제공하여 자동차 보유 및 등록 추이를 분석하기 위한 데이터</a:t>
                      </a:r>
                      <a:endParaRPr lang="ko-KR" alt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24" marR="9024" marT="902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RF-1.0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24" marR="9024" marT="902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자동차등록현황보고</a:t>
                      </a:r>
                      <a:r>
                        <a:rPr lang="en-US" altLang="ko-KR" sz="1400" u="none" strike="noStrike">
                          <a:solidFill>
                            <a:schemeClr val="bg1"/>
                          </a:solidFill>
                          <a:effectLst/>
                        </a:rPr>
                        <a:t>.csv</a:t>
                      </a:r>
                      <a:br>
                        <a:rPr lang="en-US" altLang="ko-KR" sz="1400" u="none" strike="noStrike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ko-KR" alt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운전면허소지자 지역별 종별 현황</a:t>
                      </a:r>
                      <a:r>
                        <a:rPr lang="en-US" altLang="ko-KR" sz="1400" u="none" strike="noStrike">
                          <a:solidFill>
                            <a:schemeClr val="bg1"/>
                          </a:solidFill>
                          <a:effectLst/>
                        </a:rPr>
                        <a:t>.csv</a:t>
                      </a:r>
                      <a:br>
                        <a:rPr lang="en-US" altLang="ko-KR" sz="1400" u="none" strike="noStrike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ko-KR" alt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운전면허 자진반납 연령별</a:t>
                      </a:r>
                      <a:r>
                        <a:rPr lang="en-US" altLang="ko-KR" sz="1400" u="none" strike="noStrike">
                          <a:solidFill>
                            <a:schemeClr val="bg1"/>
                          </a:solidFill>
                          <a:effectLst/>
                        </a:rPr>
                        <a:t>(2023</a:t>
                      </a:r>
                      <a:r>
                        <a:rPr lang="ko-KR" alt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년</a:t>
                      </a:r>
                      <a:r>
                        <a:rPr lang="en-US" altLang="ko-KR" sz="1400" u="none" strike="noStrike">
                          <a:solidFill>
                            <a:schemeClr val="bg1"/>
                          </a:solidFill>
                          <a:effectLst/>
                        </a:rPr>
                        <a:t>).csv</a:t>
                      </a:r>
                      <a:br>
                        <a:rPr lang="en-US" altLang="ko-KR" sz="1400" u="none" strike="noStrike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ko-KR" alt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운전면허소지자현황</a:t>
                      </a:r>
                      <a:r>
                        <a:rPr lang="en-US" altLang="ko-KR" sz="1400" u="none" strike="noStrike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r>
                        <a:rPr lang="ko-KR" alt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지역별</a:t>
                      </a:r>
                      <a:r>
                        <a:rPr lang="en-US" altLang="ko-KR" sz="1400" u="none" strike="noStrike">
                          <a:solidFill>
                            <a:schemeClr val="bg1"/>
                          </a:solidFill>
                          <a:effectLst/>
                        </a:rPr>
                        <a:t>.csv</a:t>
                      </a:r>
                      <a:br>
                        <a:rPr lang="en-US" altLang="ko-KR" sz="1400" u="none" strike="noStrike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ko-KR" alt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운전면허소지자현황</a:t>
                      </a:r>
                      <a:r>
                        <a:rPr lang="en-US" altLang="ko-KR" sz="1400" u="none" strike="noStrike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r>
                        <a:rPr lang="ko-KR" alt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성별</a:t>
                      </a:r>
                      <a:r>
                        <a:rPr lang="en-US" altLang="ko-KR" sz="1400" u="none" strike="noStrike">
                          <a:solidFill>
                            <a:schemeClr val="bg1"/>
                          </a:solidFill>
                          <a:effectLst/>
                        </a:rPr>
                        <a:t>.csv</a:t>
                      </a:r>
                      <a:br>
                        <a:rPr lang="en-US" altLang="ko-KR" sz="1400" u="none" strike="noStrike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ko-KR" alt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운전면허소지자현황</a:t>
                      </a:r>
                      <a:r>
                        <a:rPr lang="en-US" altLang="ko-KR" sz="1400" u="none" strike="noStrike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r>
                        <a:rPr lang="ko-KR" alt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연령대별</a:t>
                      </a:r>
                      <a:r>
                        <a:rPr lang="en-US" altLang="ko-KR" sz="1400" u="none" strike="noStrike">
                          <a:solidFill>
                            <a:schemeClr val="bg1"/>
                          </a:solidFill>
                          <a:effectLst/>
                        </a:rPr>
                        <a:t>.csv</a:t>
                      </a:r>
                      <a:endParaRPr lang="en-US" altLang="ko-KR" sz="1400" b="0" i="0" u="none" strike="noStrike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24" marR="9024" marT="902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경찰청</a:t>
                      </a:r>
                      <a:r>
                        <a:rPr lang="en-US" altLang="ko-KR" sz="1400" u="none" strike="noStrike">
                          <a:solidFill>
                            <a:schemeClr val="bg1"/>
                          </a:solidFill>
                          <a:effectLst/>
                        </a:rPr>
                        <a:t>,</a:t>
                      </a:r>
                      <a:br>
                        <a:rPr lang="en-US" altLang="ko-KR" sz="1400" u="none" strike="noStrike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altLang="ko-KR" sz="1400" u="none" strike="noStrike">
                          <a:solidFill>
                            <a:schemeClr val="bg1"/>
                          </a:solidFill>
                          <a:effectLst/>
                        </a:rPr>
                        <a:t>KOSIS,</a:t>
                      </a:r>
                      <a:br>
                        <a:rPr lang="en-US" altLang="ko-KR" sz="1400" u="none" strike="noStrike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ko-KR" alt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국토교통통계누리</a:t>
                      </a:r>
                      <a:endParaRPr lang="ko-KR" altLang="en-US" sz="1400" b="0" i="0" u="none" strike="noStrike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24" marR="9024" marT="902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219305"/>
                  </a:ext>
                </a:extLst>
              </a:tr>
              <a:tr h="230595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endParaRPr lang="en-US" altLang="ko-KR" sz="1400" b="0" i="0" u="none" strike="noStrike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24" marR="9024" marT="902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교통사고 관련 데이터</a:t>
                      </a:r>
                      <a:endParaRPr lang="ko-KR" altLang="en-US" sz="1400" b="0" i="0" u="none" strike="noStrike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24" marR="9024" marT="902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지역</a:t>
                      </a:r>
                      <a:r>
                        <a:rPr lang="en-US" altLang="ko-KR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·</a:t>
                      </a:r>
                      <a:r>
                        <a:rPr lang="ko-KR" alt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사고유형</a:t>
                      </a:r>
                      <a:r>
                        <a:rPr lang="en-US" altLang="ko-KR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·</a:t>
                      </a:r>
                      <a:r>
                        <a:rPr lang="ko-KR" alt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피해규모별 교통사고 발생 현황을 제공하여 사고 발생 추이와 위험지역을 분석하기 위한 데이터</a:t>
                      </a:r>
                      <a:endParaRPr lang="ko-KR" alt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24" marR="9024" marT="902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RF-3.0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24" marR="9024" marT="902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가해운전자 연령대별 교통사고</a:t>
                      </a:r>
                      <a:r>
                        <a:rPr lang="en-US" altLang="ko-KR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.xlsx</a:t>
                      </a:r>
                      <a:br>
                        <a:rPr lang="en-US" altLang="ko-KR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ko-KR" alt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가해운전자 연령대별 및 시간대별 교통사고</a:t>
                      </a:r>
                      <a:r>
                        <a:rPr lang="en-US" altLang="ko-KR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.xlsx</a:t>
                      </a:r>
                      <a:br>
                        <a:rPr lang="en-US" altLang="ko-KR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ko-KR" alt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기상상태별 교통사고 수</a:t>
                      </a:r>
                      <a:r>
                        <a:rPr lang="en-US" altLang="ko-KR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.xlsx</a:t>
                      </a:r>
                      <a:br>
                        <a:rPr lang="en-US" altLang="ko-KR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ko-KR" alt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노인운전자 사고유형별 및 시간대별 교통사고</a:t>
                      </a:r>
                      <a:r>
                        <a:rPr lang="en-US" altLang="ko-KR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.xlsx</a:t>
                      </a:r>
                      <a:br>
                        <a:rPr lang="en-US" altLang="ko-KR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ko-KR" alt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노인운전자 월별 및 시간대별 교통사고</a:t>
                      </a:r>
                      <a:r>
                        <a:rPr lang="en-US" altLang="ko-KR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.xlsx</a:t>
                      </a:r>
                      <a:br>
                        <a:rPr lang="en-US" altLang="ko-KR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ko-KR" alt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노인운전자 지역별 및 월별 교통사고</a:t>
                      </a:r>
                      <a:r>
                        <a:rPr lang="en-US" altLang="ko-KR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.xlsx</a:t>
                      </a:r>
                      <a:br>
                        <a:rPr lang="en-US" altLang="ko-KR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ko-KR" alt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연령대별 교통사고 수</a:t>
                      </a:r>
                      <a:r>
                        <a:rPr lang="en-US" altLang="ko-KR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.xlsx</a:t>
                      </a:r>
                      <a:br>
                        <a:rPr lang="en-US" altLang="ko-KR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ko-KR" alt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지역별 전체 교통사고 건수</a:t>
                      </a:r>
                      <a:r>
                        <a:rPr lang="en-US" altLang="ko-KR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.xlsx</a:t>
                      </a:r>
                      <a:br>
                        <a:rPr lang="en-US" altLang="ko-KR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ko-KR" alt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교통사고 지표 현황</a:t>
                      </a:r>
                      <a:r>
                        <a:rPr lang="en-US" altLang="ko-KR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r>
                        <a:rPr lang="ko-KR" alt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지역별</a:t>
                      </a:r>
                      <a:r>
                        <a:rPr lang="en-US" altLang="ko-KR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.xlsx</a:t>
                      </a:r>
                      <a:endParaRPr lang="en-US" altLang="ko-KR" sz="14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24" marR="9024" marT="902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>
                          <a:solidFill>
                            <a:schemeClr val="bg1"/>
                          </a:solidFill>
                          <a:effectLst/>
                        </a:rPr>
                        <a:t>TAAS </a:t>
                      </a:r>
                      <a:r>
                        <a:rPr lang="ko-KR" alt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교통사고분석시스템</a:t>
                      </a:r>
                      <a:r>
                        <a:rPr lang="en-US" altLang="ko-KR" sz="1400" u="none" strike="noStrike">
                          <a:solidFill>
                            <a:schemeClr val="bg1"/>
                          </a:solidFill>
                          <a:effectLst/>
                        </a:rPr>
                        <a:t>,</a:t>
                      </a:r>
                      <a:br>
                        <a:rPr lang="en-US" altLang="ko-KR" sz="1400" u="none" strike="noStrike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altLang="ko-KR" sz="1400" u="none" strike="noStrike">
                          <a:solidFill>
                            <a:schemeClr val="bg1"/>
                          </a:solidFill>
                          <a:effectLst/>
                        </a:rPr>
                        <a:t>TMACS </a:t>
                      </a:r>
                      <a:r>
                        <a:rPr lang="ko-KR" alt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교통안전정보관리시스템</a:t>
                      </a:r>
                      <a:endParaRPr lang="ko-KR" altLang="en-US" sz="1400" b="0" i="0" u="none" strike="noStrike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24" marR="9024" marT="902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887942"/>
                  </a:ext>
                </a:extLst>
              </a:tr>
              <a:tr h="7769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endParaRPr lang="en-US" altLang="ko-KR" sz="1400" b="0" i="0" u="none" strike="noStrike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24" marR="9024" marT="902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교통 법규 데이터</a:t>
                      </a:r>
                      <a:endParaRPr lang="ko-KR" altLang="en-US" sz="1400" b="0" i="0" u="none" strike="noStrike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24" marR="9024" marT="902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교통 법규</a:t>
                      </a:r>
                      <a:r>
                        <a:rPr lang="en-US" altLang="ko-KR" sz="1400" u="none" strike="noStrike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ko-KR" alt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위반 유형</a:t>
                      </a:r>
                      <a:r>
                        <a:rPr lang="en-US" altLang="ko-KR" sz="1400" u="none" strike="noStrike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ko-KR" alt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범칙금</a:t>
                      </a:r>
                      <a:r>
                        <a:rPr lang="en-US" altLang="ko-KR" sz="1400" u="none" strike="noStrike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ko-KR" alt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벌점 등의 정보를 제공하여 운전자에게 관련 법규 정보를 제공하기 위한 데이터</a:t>
                      </a:r>
                      <a:endParaRPr lang="ko-KR" altLang="en-US" sz="1400" b="0" i="0" u="none" strike="noStrike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24" marR="9024" marT="902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RF-4.0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24" marR="9024" marT="902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도로교통공단</a:t>
                      </a:r>
                      <a:r>
                        <a:rPr lang="en-US" altLang="ko-KR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r>
                        <a:rPr lang="ko-KR" alt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고령운전자 교통안전교육</a:t>
                      </a:r>
                      <a:r>
                        <a:rPr lang="en-US" altLang="ko-KR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_</a:t>
                      </a:r>
                      <a:r>
                        <a:rPr lang="ko-KR" alt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교육예약정보</a:t>
                      </a:r>
                      <a:r>
                        <a:rPr lang="en-US" altLang="ko-KR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.xlsx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전국 고령운전자 정책제도</a:t>
                      </a:r>
                      <a:r>
                        <a:rPr lang="en-US" altLang="ko-KR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.xlsx</a:t>
                      </a:r>
                      <a:br>
                        <a:rPr lang="en-US" altLang="ko-KR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ko-KR" alt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지역 특화 고령운전자 안전정책</a:t>
                      </a:r>
                      <a:r>
                        <a:rPr lang="en-US" altLang="ko-KR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.xlsx</a:t>
                      </a:r>
                      <a:br>
                        <a:rPr lang="en-US" altLang="ko-KR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ko-KR" alt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지역별 운전면허 자진반납 지원</a:t>
                      </a:r>
                      <a:r>
                        <a:rPr lang="en-US" altLang="ko-KR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.xlsx</a:t>
                      </a:r>
                      <a:endParaRPr lang="en-US" altLang="ko-KR" sz="14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024" marR="9024" marT="902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도로교통공단</a:t>
                      </a:r>
                      <a:endParaRPr lang="ko-KR" altLang="en-US" sz="1400" b="0" i="0" u="none" strike="noStrike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24" marR="9024" marT="902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568705"/>
                  </a:ext>
                </a:extLst>
              </a:tr>
              <a:tr h="7769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  <a:endParaRPr lang="en-US" altLang="ko-KR" sz="1400" b="0" i="0" u="none" strike="noStrike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24" marR="9024" marT="902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차량 업체 </a:t>
                      </a:r>
                      <a:r>
                        <a:rPr lang="en-US" altLang="ko-KR" sz="1400" u="none" strike="noStrike">
                          <a:solidFill>
                            <a:schemeClr val="bg1"/>
                          </a:solidFill>
                          <a:effectLst/>
                        </a:rPr>
                        <a:t>FAQ </a:t>
                      </a:r>
                      <a:r>
                        <a:rPr lang="ko-KR" alt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데이터</a:t>
                      </a:r>
                      <a:endParaRPr lang="ko-KR" altLang="en-US" sz="1400" b="0" i="0" u="none" strike="noStrike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24" marR="9024" marT="902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자동차 업체에서 제공하는 차량 관련 질문과 답변을 제공하여 차량 이용자의 궁금증을 해결하기 위한 데이터</a:t>
                      </a:r>
                      <a:endParaRPr lang="ko-KR" altLang="en-US" sz="1400" b="0" i="0" u="none" strike="noStrike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24" marR="9024" marT="902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RF-5.0, RF 6.0, RF-7.0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24" marR="9024" marT="902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추가예정</a:t>
                      </a:r>
                      <a:endParaRPr lang="en-US" altLang="ko-KR" sz="14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24" marR="9024" marT="902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　</a:t>
                      </a:r>
                      <a:endParaRPr lang="ko-KR" alt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24" marR="9024" marT="9024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8703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6405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762000" y="685800"/>
            <a:ext cx="1346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ko-KR" altLang="en-US" sz="3400" b="1" dirty="0">
                <a:solidFill>
                  <a:srgbClr val="F8F9FA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참고 사이트</a:t>
            </a:r>
            <a:endParaRPr lang="en-US" sz="3400" b="1" dirty="0"/>
          </a:p>
        </p:txBody>
      </p:sp>
      <p:sp>
        <p:nvSpPr>
          <p:cNvPr id="3" name="title-line"/>
          <p:cNvSpPr/>
          <p:nvPr/>
        </p:nvSpPr>
        <p:spPr>
          <a:xfrm>
            <a:off x="762000" y="1574800"/>
            <a:ext cx="1524000" cy="9144"/>
          </a:xfrm>
          <a:prstGeom prst="line">
            <a:avLst/>
          </a:prstGeom>
          <a:ln w="38100">
            <a:solidFill>
              <a:srgbClr val="00B4D8"/>
            </a:solidFill>
            <a:prstDash val="solid"/>
          </a:ln>
        </p:spPr>
      </p:sp>
      <p:sp>
        <p:nvSpPr>
          <p:cNvPr id="13" name="page"/>
          <p:cNvSpPr/>
          <p:nvPr/>
        </p:nvSpPr>
        <p:spPr>
          <a:xfrm>
            <a:off x="14859000" y="84836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9CA3AF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08</a:t>
            </a:r>
            <a:endParaRPr lang="en-US" sz="1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8A8B486-373B-4E32-93DB-43F65C0AB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54" y="1812242"/>
            <a:ext cx="14907846" cy="697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768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762000" y="685800"/>
            <a:ext cx="1346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ko-KR" altLang="en-US" sz="3400" b="1" dirty="0">
                <a:solidFill>
                  <a:srgbClr val="F8F9FA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앞으로 진행해야 될 부분</a:t>
            </a:r>
            <a:endParaRPr lang="en-US" sz="3400" b="1" dirty="0"/>
          </a:p>
        </p:txBody>
      </p:sp>
      <p:sp>
        <p:nvSpPr>
          <p:cNvPr id="3" name="title-line"/>
          <p:cNvSpPr/>
          <p:nvPr/>
        </p:nvSpPr>
        <p:spPr>
          <a:xfrm>
            <a:off x="762000" y="1574800"/>
            <a:ext cx="1524000" cy="9144"/>
          </a:xfrm>
          <a:prstGeom prst="line">
            <a:avLst/>
          </a:prstGeom>
          <a:ln w="38100">
            <a:solidFill>
              <a:srgbClr val="00B4D8"/>
            </a:solidFill>
            <a:prstDash val="solid"/>
          </a:ln>
        </p:spPr>
      </p:sp>
      <p:sp>
        <p:nvSpPr>
          <p:cNvPr id="13" name="page"/>
          <p:cNvSpPr/>
          <p:nvPr/>
        </p:nvSpPr>
        <p:spPr>
          <a:xfrm>
            <a:off x="14859000" y="84836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9CA3AF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08</a:t>
            </a:r>
            <a:endParaRPr lang="en-US" sz="1400" dirty="0"/>
          </a:p>
        </p:txBody>
      </p:sp>
      <p:sp>
        <p:nvSpPr>
          <p:cNvPr id="6" name="user-card-1">
            <a:extLst>
              <a:ext uri="{FF2B5EF4-FFF2-40B4-BE49-F238E27FC236}">
                <a16:creationId xmlns:a16="http://schemas.microsoft.com/office/drawing/2014/main" id="{D4EAC2FE-D74C-4409-A21F-50D539B187A0}"/>
              </a:ext>
            </a:extLst>
          </p:cNvPr>
          <p:cNvSpPr/>
          <p:nvPr/>
        </p:nvSpPr>
        <p:spPr>
          <a:xfrm>
            <a:off x="1397000" y="3429000"/>
            <a:ext cx="4064000" cy="2489200"/>
          </a:xfrm>
          <a:prstGeom prst="rect">
            <a:avLst/>
          </a:prstGeom>
          <a:solidFill>
            <a:srgbClr val="162238"/>
          </a:solidFill>
          <a:ln w="12700">
            <a:solidFill>
              <a:srgbClr val="2A3B5C"/>
            </a:solidFill>
            <a:prstDash val="solid"/>
          </a:ln>
        </p:spPr>
      </p:sp>
      <p:pic>
        <p:nvPicPr>
          <p:cNvPr id="7" name="user-icon-1" descr="preencoded.png">
            <a:extLst>
              <a:ext uri="{FF2B5EF4-FFF2-40B4-BE49-F238E27FC236}">
                <a16:creationId xmlns:a16="http://schemas.microsoft.com/office/drawing/2014/main" id="{4037EB2C-BF58-400D-B46B-FD973BAAD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3810000"/>
            <a:ext cx="457200" cy="457200"/>
          </a:xfrm>
          <a:prstGeom prst="rect">
            <a:avLst/>
          </a:prstGeom>
        </p:spPr>
      </p:pic>
      <p:sp>
        <p:nvSpPr>
          <p:cNvPr id="8" name="user-title-1">
            <a:extLst>
              <a:ext uri="{FF2B5EF4-FFF2-40B4-BE49-F238E27FC236}">
                <a16:creationId xmlns:a16="http://schemas.microsoft.com/office/drawing/2014/main" id="{3B49F5ED-8F87-4A43-B830-04B5256DA34F}"/>
              </a:ext>
            </a:extLst>
          </p:cNvPr>
          <p:cNvSpPr/>
          <p:nvPr/>
        </p:nvSpPr>
        <p:spPr>
          <a:xfrm>
            <a:off x="1752600" y="44450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ko-KR" altLang="en-US" sz="2000" b="1" dirty="0">
                <a:solidFill>
                  <a:srgbClr val="F8F9FA"/>
                </a:solidFill>
                <a:latin typeface="Noto Sans KR" pitchFamily="34" charset="0"/>
              </a:rPr>
              <a:t>데이터베이스 구축</a:t>
            </a:r>
            <a:endParaRPr lang="en-US" sz="2000" b="1" dirty="0"/>
          </a:p>
        </p:txBody>
      </p:sp>
      <p:sp>
        <p:nvSpPr>
          <p:cNvPr id="9" name="user-text-1">
            <a:extLst>
              <a:ext uri="{FF2B5EF4-FFF2-40B4-BE49-F238E27FC236}">
                <a16:creationId xmlns:a16="http://schemas.microsoft.com/office/drawing/2014/main" id="{292BCD4B-2A2C-4F29-B774-993BFDBF964B}"/>
              </a:ext>
            </a:extLst>
          </p:cNvPr>
          <p:cNvSpPr/>
          <p:nvPr/>
        </p:nvSpPr>
        <p:spPr>
          <a:xfrm>
            <a:off x="1739900" y="4978400"/>
            <a:ext cx="3200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10"/>
              </a:lnSpc>
              <a:buNone/>
            </a:pPr>
            <a:r>
              <a:rPr lang="ko-KR" altLang="en-US" sz="1600" b="0" i="0" dirty="0">
                <a:solidFill>
                  <a:schemeClr val="bg1">
                    <a:lumMod val="75000"/>
                  </a:schemeClr>
                </a:solidFill>
                <a:effectLst/>
                <a:latin typeface="Abadi" panose="020B0604020104020204" pitchFamily="34" charset="0"/>
              </a:rPr>
              <a:t>자동차 등록</a:t>
            </a:r>
            <a:r>
              <a:rPr lang="en-US" altLang="ko-KR" sz="1600" b="0" i="0" dirty="0">
                <a:solidFill>
                  <a:schemeClr val="bg1">
                    <a:lumMod val="75000"/>
                  </a:schemeClr>
                </a:solidFill>
                <a:effectLst/>
                <a:latin typeface="Abadi" panose="020B0604020104020204" pitchFamily="34" charset="0"/>
              </a:rPr>
              <a:t>·</a:t>
            </a:r>
            <a:r>
              <a:rPr lang="ko-KR" altLang="en-US" sz="1600" b="0" i="0" dirty="0">
                <a:solidFill>
                  <a:schemeClr val="bg1">
                    <a:lumMod val="75000"/>
                  </a:schemeClr>
                </a:solidFill>
                <a:effectLst/>
                <a:latin typeface="Abadi" panose="020B0604020104020204" pitchFamily="34" charset="0"/>
              </a:rPr>
              <a:t>인구</a:t>
            </a:r>
            <a:r>
              <a:rPr lang="en-US" altLang="ko-KR" sz="1600" b="0" i="0" dirty="0">
                <a:solidFill>
                  <a:schemeClr val="bg1">
                    <a:lumMod val="75000"/>
                  </a:schemeClr>
                </a:solidFill>
                <a:effectLst/>
                <a:latin typeface="Abadi" panose="020B0604020104020204" pitchFamily="34" charset="0"/>
              </a:rPr>
              <a:t>·</a:t>
            </a:r>
            <a:r>
              <a:rPr lang="ko-KR" altLang="en-US" sz="1600" b="0" i="0" dirty="0">
                <a:solidFill>
                  <a:schemeClr val="bg1">
                    <a:lumMod val="75000"/>
                  </a:schemeClr>
                </a:solidFill>
                <a:effectLst/>
                <a:latin typeface="Abadi" panose="020B0604020104020204" pitchFamily="34" charset="0"/>
              </a:rPr>
              <a:t>교통사고</a:t>
            </a:r>
            <a:r>
              <a:rPr lang="en-US" altLang="ko-KR" sz="1600" b="0" i="0" dirty="0">
                <a:solidFill>
                  <a:schemeClr val="bg1">
                    <a:lumMod val="75000"/>
                  </a:schemeClr>
                </a:solidFill>
                <a:effectLst/>
                <a:latin typeface="Abadi" panose="020B0604020104020204" pitchFamily="34" charset="0"/>
              </a:rPr>
              <a:t>·</a:t>
            </a:r>
            <a:r>
              <a:rPr lang="ko-KR" altLang="en-US" sz="1600" b="0" i="0" dirty="0">
                <a:solidFill>
                  <a:schemeClr val="bg1">
                    <a:lumMod val="75000"/>
                  </a:schemeClr>
                </a:solidFill>
                <a:effectLst/>
                <a:latin typeface="Abadi" panose="020B0604020104020204" pitchFamily="34" charset="0"/>
              </a:rPr>
              <a:t>정책 데이터를 수집</a:t>
            </a:r>
            <a:r>
              <a:rPr lang="en-US" altLang="ko-KR" sz="1600" b="0" i="0" dirty="0">
                <a:solidFill>
                  <a:schemeClr val="bg1">
                    <a:lumMod val="75000"/>
                  </a:schemeClr>
                </a:solidFill>
                <a:effectLst/>
                <a:latin typeface="Abadi" panose="020B0604020104020204" pitchFamily="34" charset="0"/>
              </a:rPr>
              <a:t>·</a:t>
            </a:r>
            <a:r>
              <a:rPr lang="ko-KR" altLang="en-US" sz="1600" b="0" i="0" dirty="0">
                <a:solidFill>
                  <a:schemeClr val="bg1">
                    <a:lumMod val="75000"/>
                  </a:schemeClr>
                </a:solidFill>
                <a:effectLst/>
                <a:latin typeface="Abadi" panose="020B0604020104020204" pitchFamily="34" charset="0"/>
              </a:rPr>
              <a:t>정제하고</a:t>
            </a:r>
            <a:r>
              <a:rPr lang="en-US" altLang="ko-KR" sz="1600" b="0" i="0" dirty="0">
                <a:solidFill>
                  <a:schemeClr val="bg1">
                    <a:lumMod val="75000"/>
                  </a:schemeClr>
                </a:solidFill>
                <a:effectLst/>
                <a:latin typeface="Abadi" panose="020B0604020104020204" pitchFamily="34" charset="0"/>
              </a:rPr>
              <a:t>, </a:t>
            </a:r>
            <a:r>
              <a:rPr lang="ko-KR" altLang="en-US" sz="1600" b="0" i="0" dirty="0">
                <a:solidFill>
                  <a:schemeClr val="bg1">
                    <a:lumMod val="75000"/>
                  </a:schemeClr>
                </a:solidFill>
                <a:effectLst/>
                <a:latin typeface="Abadi" panose="020B0604020104020204" pitchFamily="34" charset="0"/>
              </a:rPr>
              <a:t>지역</a:t>
            </a:r>
            <a:r>
              <a:rPr lang="en-US" altLang="ko-KR" sz="1600" b="0" i="0" dirty="0">
                <a:solidFill>
                  <a:schemeClr val="bg1">
                    <a:lumMod val="75000"/>
                  </a:schemeClr>
                </a:solidFill>
                <a:effectLst/>
                <a:latin typeface="Abadi" panose="020B0604020104020204" pitchFamily="34" charset="0"/>
              </a:rPr>
              <a:t>·</a:t>
            </a:r>
            <a:r>
              <a:rPr lang="ko-KR" altLang="en-US" sz="1600" b="0" i="0" dirty="0">
                <a:solidFill>
                  <a:schemeClr val="bg1">
                    <a:lumMod val="75000"/>
                  </a:schemeClr>
                </a:solidFill>
                <a:effectLst/>
                <a:latin typeface="Abadi" panose="020B0604020104020204" pitchFamily="34" charset="0"/>
              </a:rPr>
              <a:t>연도 기준의 통합 </a:t>
            </a:r>
            <a:r>
              <a:rPr lang="en-US" altLang="ko-KR" sz="1600" b="0" i="0" dirty="0">
                <a:solidFill>
                  <a:schemeClr val="bg1">
                    <a:lumMod val="75000"/>
                  </a:schemeClr>
                </a:solidFill>
                <a:effectLst/>
                <a:latin typeface="Abadi" panose="020B0604020104020204" pitchFamily="34" charset="0"/>
              </a:rPr>
              <a:t>DB</a:t>
            </a:r>
            <a:r>
              <a:rPr lang="ko-KR" altLang="en-US" sz="1600" b="0" i="0" dirty="0">
                <a:solidFill>
                  <a:schemeClr val="bg1">
                    <a:lumMod val="75000"/>
                  </a:schemeClr>
                </a:solidFill>
                <a:effectLst/>
                <a:latin typeface="Abadi" panose="020B0604020104020204" pitchFamily="34" charset="0"/>
              </a:rPr>
              <a:t>를 구축합니다</a:t>
            </a:r>
            <a:r>
              <a:rPr lang="en-US" altLang="ko-KR" sz="1600" b="0" i="0" dirty="0">
                <a:solidFill>
                  <a:schemeClr val="bg1">
                    <a:lumMod val="75000"/>
                  </a:schemeClr>
                </a:solidFill>
                <a:effectLst/>
                <a:latin typeface="Abadi" panose="020B0604020104020204" pitchFamily="34" charset="0"/>
              </a:rPr>
              <a:t>.</a:t>
            </a:r>
            <a:endParaRPr lang="en-US" sz="1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user-card-2">
            <a:extLst>
              <a:ext uri="{FF2B5EF4-FFF2-40B4-BE49-F238E27FC236}">
                <a16:creationId xmlns:a16="http://schemas.microsoft.com/office/drawing/2014/main" id="{512EC41A-913F-445F-9241-1AC2A901B72A}"/>
              </a:ext>
            </a:extLst>
          </p:cNvPr>
          <p:cNvSpPr/>
          <p:nvPr/>
        </p:nvSpPr>
        <p:spPr>
          <a:xfrm>
            <a:off x="6096000" y="3429000"/>
            <a:ext cx="4064000" cy="2489200"/>
          </a:xfrm>
          <a:prstGeom prst="rect">
            <a:avLst/>
          </a:prstGeom>
          <a:solidFill>
            <a:srgbClr val="162238"/>
          </a:solidFill>
          <a:ln w="12700">
            <a:solidFill>
              <a:srgbClr val="2A3B5C"/>
            </a:solidFill>
            <a:prstDash val="solid"/>
          </a:ln>
        </p:spPr>
      </p:sp>
      <p:pic>
        <p:nvPicPr>
          <p:cNvPr id="11" name="user-icon-2" descr="preencoded.png">
            <a:extLst>
              <a:ext uri="{FF2B5EF4-FFF2-40B4-BE49-F238E27FC236}">
                <a16:creationId xmlns:a16="http://schemas.microsoft.com/office/drawing/2014/main" id="{203938AF-C1A6-40A0-812D-9BAC3C7586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600" y="3810000"/>
            <a:ext cx="457200" cy="457200"/>
          </a:xfrm>
          <a:prstGeom prst="rect">
            <a:avLst/>
          </a:prstGeom>
        </p:spPr>
      </p:pic>
      <p:sp>
        <p:nvSpPr>
          <p:cNvPr id="12" name="user-title-2">
            <a:extLst>
              <a:ext uri="{FF2B5EF4-FFF2-40B4-BE49-F238E27FC236}">
                <a16:creationId xmlns:a16="http://schemas.microsoft.com/office/drawing/2014/main" id="{A8CCB1A4-A50F-4A87-B0F8-2CFE578B505F}"/>
              </a:ext>
            </a:extLst>
          </p:cNvPr>
          <p:cNvSpPr/>
          <p:nvPr/>
        </p:nvSpPr>
        <p:spPr>
          <a:xfrm>
            <a:off x="6451600" y="44450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ko-KR" altLang="en-US" sz="2000" b="1" i="0" dirty="0">
                <a:solidFill>
                  <a:schemeClr val="bg1"/>
                </a:solidFill>
                <a:effectLst/>
                <a:latin typeface="Abadi" panose="020B0604020104020204" pitchFamily="34" charset="0"/>
              </a:rPr>
              <a:t>통합 대시보드 구현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4" name="user-text-2">
            <a:extLst>
              <a:ext uri="{FF2B5EF4-FFF2-40B4-BE49-F238E27FC236}">
                <a16:creationId xmlns:a16="http://schemas.microsoft.com/office/drawing/2014/main" id="{CA25ACC1-7B42-4868-B2D9-055AF98684B2}"/>
              </a:ext>
            </a:extLst>
          </p:cNvPr>
          <p:cNvSpPr/>
          <p:nvPr/>
        </p:nvSpPr>
        <p:spPr>
          <a:xfrm>
            <a:off x="6451600" y="4792980"/>
            <a:ext cx="335084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10"/>
              </a:lnSpc>
              <a:buNone/>
            </a:pPr>
            <a:r>
              <a:rPr lang="ko-KR" altLang="en-US" sz="1600" b="0" i="0" dirty="0">
                <a:solidFill>
                  <a:schemeClr val="bg1">
                    <a:lumMod val="75000"/>
                  </a:schemeClr>
                </a:solidFill>
                <a:effectLst/>
                <a:latin typeface="Abadi" panose="020B0604020104020204" pitchFamily="34" charset="0"/>
              </a:rPr>
              <a:t>지역</a:t>
            </a:r>
            <a:r>
              <a:rPr lang="en-US" altLang="ko-KR" sz="1600" b="0" i="0" dirty="0">
                <a:solidFill>
                  <a:schemeClr val="bg1">
                    <a:lumMod val="75000"/>
                  </a:schemeClr>
                </a:solidFill>
                <a:effectLst/>
                <a:latin typeface="Abadi" panose="020B0604020104020204" pitchFamily="34" charset="0"/>
              </a:rPr>
              <a:t>·</a:t>
            </a:r>
            <a:r>
              <a:rPr lang="ko-KR" altLang="en-US" sz="1600" b="0" i="0" dirty="0">
                <a:solidFill>
                  <a:schemeClr val="bg1">
                    <a:lumMod val="75000"/>
                  </a:schemeClr>
                </a:solidFill>
                <a:effectLst/>
                <a:latin typeface="Abadi" panose="020B0604020104020204" pitchFamily="34" charset="0"/>
              </a:rPr>
              <a:t>연도별 조회</a:t>
            </a:r>
            <a:r>
              <a:rPr lang="en-US" altLang="ko-KR" sz="1600" b="0" i="0" dirty="0">
                <a:solidFill>
                  <a:schemeClr val="bg1">
                    <a:lumMod val="75000"/>
                  </a:schemeClr>
                </a:solidFill>
                <a:effectLst/>
                <a:latin typeface="Abadi" panose="020B0604020104020204" pitchFamily="34" charset="0"/>
              </a:rPr>
              <a:t>, </a:t>
            </a:r>
            <a:r>
              <a:rPr lang="ko-KR" altLang="en-US" sz="1600" b="0" i="0" dirty="0">
                <a:solidFill>
                  <a:schemeClr val="bg1">
                    <a:lumMod val="75000"/>
                  </a:schemeClr>
                </a:solidFill>
                <a:effectLst/>
                <a:latin typeface="Abadi" panose="020B0604020104020204" pitchFamily="34" charset="0"/>
              </a:rPr>
              <a:t>고령화</a:t>
            </a:r>
            <a:r>
              <a:rPr lang="en-US" altLang="ko-KR" sz="1600" b="0" i="0" dirty="0">
                <a:solidFill>
                  <a:schemeClr val="bg1">
                    <a:lumMod val="75000"/>
                  </a:schemeClr>
                </a:solidFill>
                <a:effectLst/>
                <a:latin typeface="Abadi" panose="020B0604020104020204" pitchFamily="34" charset="0"/>
              </a:rPr>
              <a:t>·</a:t>
            </a:r>
            <a:r>
              <a:rPr lang="ko-KR" altLang="en-US" sz="1600" b="0" i="0" dirty="0">
                <a:solidFill>
                  <a:schemeClr val="bg1">
                    <a:lumMod val="75000"/>
                  </a:schemeClr>
                </a:solidFill>
                <a:effectLst/>
                <a:latin typeface="Abadi" panose="020B0604020104020204" pitchFamily="34" charset="0"/>
              </a:rPr>
              <a:t>사고 비교</a:t>
            </a:r>
            <a:r>
              <a:rPr lang="en-US" altLang="ko-KR" sz="1600" b="0" i="0" dirty="0">
                <a:solidFill>
                  <a:schemeClr val="bg1">
                    <a:lumMod val="75000"/>
                  </a:schemeClr>
                </a:solidFill>
                <a:effectLst/>
                <a:latin typeface="Abadi" panose="020B0604020104020204" pitchFamily="34" charset="0"/>
              </a:rPr>
              <a:t>, </a:t>
            </a:r>
            <a:r>
              <a:rPr lang="ko-KR" altLang="en-US" sz="1600" b="0" i="0" dirty="0">
                <a:solidFill>
                  <a:schemeClr val="bg1">
                    <a:lumMod val="75000"/>
                  </a:schemeClr>
                </a:solidFill>
                <a:effectLst/>
                <a:latin typeface="Abadi" panose="020B0604020104020204" pitchFamily="34" charset="0"/>
              </a:rPr>
              <a:t>미래전망 시각화 등 핵심 분석 기능을 웹 화면으로 구현합니다</a:t>
            </a:r>
            <a:r>
              <a:rPr lang="en-US" altLang="ko-KR" sz="1600" b="0" i="0" dirty="0">
                <a:solidFill>
                  <a:schemeClr val="bg1">
                    <a:lumMod val="75000"/>
                  </a:schemeClr>
                </a:solidFill>
                <a:effectLst/>
                <a:latin typeface="Abadi" panose="020B0604020104020204" pitchFamily="34" charset="0"/>
              </a:rPr>
              <a:t>.</a:t>
            </a:r>
            <a:endParaRPr lang="en-US" sz="1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user-card-3">
            <a:extLst>
              <a:ext uri="{FF2B5EF4-FFF2-40B4-BE49-F238E27FC236}">
                <a16:creationId xmlns:a16="http://schemas.microsoft.com/office/drawing/2014/main" id="{6D63DFF7-0995-42EA-BC5A-D220BDB62B93}"/>
              </a:ext>
            </a:extLst>
          </p:cNvPr>
          <p:cNvSpPr/>
          <p:nvPr/>
        </p:nvSpPr>
        <p:spPr>
          <a:xfrm>
            <a:off x="10795000" y="3429000"/>
            <a:ext cx="4064000" cy="2489200"/>
          </a:xfrm>
          <a:prstGeom prst="rect">
            <a:avLst/>
          </a:prstGeom>
          <a:solidFill>
            <a:srgbClr val="162238"/>
          </a:solidFill>
          <a:ln w="12700">
            <a:solidFill>
              <a:srgbClr val="2A3B5C"/>
            </a:solidFill>
            <a:prstDash val="solid"/>
          </a:ln>
        </p:spPr>
      </p:sp>
      <p:pic>
        <p:nvPicPr>
          <p:cNvPr id="17" name="user-icon-3" descr="preencoded.png">
            <a:extLst>
              <a:ext uri="{FF2B5EF4-FFF2-40B4-BE49-F238E27FC236}">
                <a16:creationId xmlns:a16="http://schemas.microsoft.com/office/drawing/2014/main" id="{D4D71C79-FF29-405C-9EF7-A907C1A3C1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0600" y="3810000"/>
            <a:ext cx="457200" cy="457200"/>
          </a:xfrm>
          <a:prstGeom prst="rect">
            <a:avLst/>
          </a:prstGeom>
        </p:spPr>
      </p:pic>
      <p:sp>
        <p:nvSpPr>
          <p:cNvPr id="18" name="user-title-3">
            <a:extLst>
              <a:ext uri="{FF2B5EF4-FFF2-40B4-BE49-F238E27FC236}">
                <a16:creationId xmlns:a16="http://schemas.microsoft.com/office/drawing/2014/main" id="{5F82E630-928A-4076-B655-4A5578A78FB2}"/>
              </a:ext>
            </a:extLst>
          </p:cNvPr>
          <p:cNvSpPr/>
          <p:nvPr/>
        </p:nvSpPr>
        <p:spPr>
          <a:xfrm>
            <a:off x="11150600" y="44450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ko-KR" altLang="en-US" sz="2000" b="1" i="0" dirty="0">
                <a:solidFill>
                  <a:schemeClr val="bg1"/>
                </a:solidFill>
                <a:effectLst/>
                <a:latin typeface="Abadi" panose="020B0604020104020204" pitchFamily="34" charset="0"/>
              </a:rPr>
              <a:t>통합 검증 및 고도화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9" name="user-text-3">
            <a:extLst>
              <a:ext uri="{FF2B5EF4-FFF2-40B4-BE49-F238E27FC236}">
                <a16:creationId xmlns:a16="http://schemas.microsoft.com/office/drawing/2014/main" id="{09189C2F-9DAD-452D-AABF-93AECFEA0E9D}"/>
              </a:ext>
            </a:extLst>
          </p:cNvPr>
          <p:cNvSpPr/>
          <p:nvPr/>
        </p:nvSpPr>
        <p:spPr>
          <a:xfrm>
            <a:off x="11150600" y="4800600"/>
            <a:ext cx="3200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10"/>
              </a:lnSpc>
              <a:buNone/>
            </a:pPr>
            <a:r>
              <a:rPr lang="ko-KR" altLang="en-US" sz="1600" b="0" i="0" dirty="0">
                <a:solidFill>
                  <a:schemeClr val="bg1">
                    <a:lumMod val="75000"/>
                  </a:schemeClr>
                </a:solidFill>
                <a:effectLst/>
                <a:latin typeface="Abadi" panose="020B0604020104020204" pitchFamily="34" charset="0"/>
              </a:rPr>
              <a:t>데이터 정합성</a:t>
            </a:r>
            <a:r>
              <a:rPr lang="en-US" altLang="ko-KR" sz="1600" b="0" i="0" dirty="0">
                <a:solidFill>
                  <a:schemeClr val="bg1">
                    <a:lumMod val="75000"/>
                  </a:schemeClr>
                </a:solidFill>
                <a:effectLst/>
                <a:latin typeface="Abadi" panose="020B0604020104020204" pitchFamily="34" charset="0"/>
              </a:rPr>
              <a:t>·</a:t>
            </a:r>
            <a:r>
              <a:rPr lang="ko-KR" altLang="en-US" sz="1600" b="0" i="0" dirty="0">
                <a:solidFill>
                  <a:schemeClr val="bg1">
                    <a:lumMod val="75000"/>
                  </a:schemeClr>
                </a:solidFill>
                <a:effectLst/>
                <a:latin typeface="Abadi" panose="020B0604020104020204" pitchFamily="34" charset="0"/>
              </a:rPr>
              <a:t>조회 성능</a:t>
            </a:r>
            <a:r>
              <a:rPr lang="en-US" altLang="ko-KR" sz="1600" b="0" i="0" dirty="0">
                <a:solidFill>
                  <a:schemeClr val="bg1">
                    <a:lumMod val="75000"/>
                  </a:schemeClr>
                </a:solidFill>
                <a:effectLst/>
                <a:latin typeface="Abadi" panose="020B0604020104020204" pitchFamily="34" charset="0"/>
              </a:rPr>
              <a:t>·</a:t>
            </a:r>
            <a:r>
              <a:rPr lang="ko-KR" altLang="en-US" sz="1600" b="0" i="0" dirty="0">
                <a:solidFill>
                  <a:schemeClr val="bg1">
                    <a:lumMod val="75000"/>
                  </a:schemeClr>
                </a:solidFill>
                <a:effectLst/>
                <a:latin typeface="Abadi" panose="020B0604020104020204" pitchFamily="34" charset="0"/>
              </a:rPr>
              <a:t>사용자 흐름을 점검하고</a:t>
            </a:r>
            <a:r>
              <a:rPr lang="en-US" altLang="ko-KR" sz="1600" b="0" i="0" dirty="0">
                <a:solidFill>
                  <a:schemeClr val="bg1">
                    <a:lumMod val="75000"/>
                  </a:schemeClr>
                </a:solidFill>
                <a:effectLst/>
                <a:latin typeface="Abadi" panose="020B0604020104020204" pitchFamily="34" charset="0"/>
              </a:rPr>
              <a:t>, </a:t>
            </a:r>
            <a:r>
              <a:rPr lang="ko-KR" altLang="en-US" sz="1600" b="0" i="0" dirty="0">
                <a:solidFill>
                  <a:schemeClr val="bg1">
                    <a:lumMod val="75000"/>
                  </a:schemeClr>
                </a:solidFill>
                <a:effectLst/>
                <a:latin typeface="Abadi" panose="020B0604020104020204" pitchFamily="34" charset="0"/>
              </a:rPr>
              <a:t>보고서 다운로드와 향후 </a:t>
            </a:r>
            <a:r>
              <a:rPr lang="en-US" altLang="ko-KR" sz="1600" b="0" i="0" dirty="0">
                <a:solidFill>
                  <a:schemeClr val="bg1">
                    <a:lumMod val="75000"/>
                  </a:schemeClr>
                </a:solidFill>
                <a:effectLst/>
                <a:latin typeface="Abadi" panose="020B0604020104020204" pitchFamily="34" charset="0"/>
              </a:rPr>
              <a:t>API </a:t>
            </a:r>
            <a:r>
              <a:rPr lang="ko-KR" altLang="en-US" sz="1600" b="0" i="0" dirty="0">
                <a:solidFill>
                  <a:schemeClr val="bg1">
                    <a:lumMod val="75000"/>
                  </a:schemeClr>
                </a:solidFill>
                <a:effectLst/>
                <a:latin typeface="Abadi" panose="020B0604020104020204" pitchFamily="34" charset="0"/>
              </a:rPr>
              <a:t>연동 기반을 마련합니다</a:t>
            </a:r>
            <a:r>
              <a:rPr lang="en-US" altLang="ko-KR" sz="1600" b="0" i="0" dirty="0">
                <a:solidFill>
                  <a:schemeClr val="bg1">
                    <a:lumMod val="75000"/>
                  </a:schemeClr>
                </a:solidFill>
                <a:effectLst/>
                <a:latin typeface="Abadi" panose="020B0604020104020204" pitchFamily="34" charset="0"/>
              </a:rPr>
              <a:t>.</a:t>
            </a:r>
            <a:endParaRPr lang="en-US" sz="17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3790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762000" y="685800"/>
            <a:ext cx="1346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ko-KR" altLang="en-US" sz="3400" b="1" dirty="0">
                <a:solidFill>
                  <a:schemeClr val="bg1"/>
                </a:solidFill>
              </a:rPr>
              <a:t>메인</a:t>
            </a:r>
            <a:r>
              <a:rPr lang="en-US" sz="3400" b="1" dirty="0">
                <a:solidFill>
                  <a:schemeClr val="bg1"/>
                </a:solidFill>
              </a:rPr>
              <a:t> </a:t>
            </a:r>
            <a:r>
              <a:rPr lang="ko-KR" altLang="en-US" sz="3400" b="1" dirty="0">
                <a:solidFill>
                  <a:schemeClr val="bg1"/>
                </a:solidFill>
              </a:rPr>
              <a:t>화면 예시</a:t>
            </a:r>
            <a:endParaRPr lang="en-US" sz="3400" b="1" dirty="0">
              <a:solidFill>
                <a:schemeClr val="bg1"/>
              </a:solidFill>
            </a:endParaRPr>
          </a:p>
        </p:txBody>
      </p:sp>
      <p:sp>
        <p:nvSpPr>
          <p:cNvPr id="3" name="title-line"/>
          <p:cNvSpPr/>
          <p:nvPr/>
        </p:nvSpPr>
        <p:spPr>
          <a:xfrm>
            <a:off x="762000" y="1574800"/>
            <a:ext cx="1524000" cy="9144"/>
          </a:xfrm>
          <a:prstGeom prst="line">
            <a:avLst/>
          </a:prstGeom>
          <a:ln w="38100">
            <a:solidFill>
              <a:srgbClr val="00B4D8"/>
            </a:solidFill>
            <a:prstDash val="solid"/>
          </a:ln>
        </p:spPr>
      </p:sp>
      <p:sp>
        <p:nvSpPr>
          <p:cNvPr id="13" name="page"/>
          <p:cNvSpPr/>
          <p:nvPr/>
        </p:nvSpPr>
        <p:spPr>
          <a:xfrm>
            <a:off x="14859000" y="84836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9CA3AF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08</a:t>
            </a:r>
            <a:endParaRPr lang="en-US" sz="14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7A39522-8E39-49B0-823B-54BE24034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565" y="1773128"/>
            <a:ext cx="14676870" cy="6440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123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762000" y="685800"/>
            <a:ext cx="1346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ko-KR" altLang="en-US" sz="3400" b="1" dirty="0">
                <a:solidFill>
                  <a:schemeClr val="bg1"/>
                </a:solidFill>
              </a:rPr>
              <a:t>분석 화면 예시</a:t>
            </a:r>
            <a:endParaRPr lang="en-US" sz="3400" b="1" dirty="0">
              <a:solidFill>
                <a:schemeClr val="bg1"/>
              </a:solidFill>
            </a:endParaRPr>
          </a:p>
        </p:txBody>
      </p:sp>
      <p:sp>
        <p:nvSpPr>
          <p:cNvPr id="3" name="title-line"/>
          <p:cNvSpPr/>
          <p:nvPr/>
        </p:nvSpPr>
        <p:spPr>
          <a:xfrm>
            <a:off x="762000" y="1574800"/>
            <a:ext cx="1524000" cy="9144"/>
          </a:xfrm>
          <a:prstGeom prst="line">
            <a:avLst/>
          </a:prstGeom>
          <a:ln w="38100">
            <a:solidFill>
              <a:srgbClr val="00B4D8"/>
            </a:solidFill>
            <a:prstDash val="solid"/>
          </a:ln>
        </p:spPr>
      </p:sp>
      <p:sp>
        <p:nvSpPr>
          <p:cNvPr id="13" name="page"/>
          <p:cNvSpPr/>
          <p:nvPr/>
        </p:nvSpPr>
        <p:spPr>
          <a:xfrm>
            <a:off x="14859000" y="84836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9CA3AF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08</a:t>
            </a:r>
            <a:endParaRPr lang="en-US" sz="1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3FFA24B-CF9C-4395-BF3D-3E7AC7985F5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360" t="4885" b="3488"/>
          <a:stretch/>
        </p:blipFill>
        <p:spPr>
          <a:xfrm>
            <a:off x="4953000" y="301244"/>
            <a:ext cx="7665378" cy="6843268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45AF92A-AB35-4616-A7A1-1D696597FE2B}"/>
              </a:ext>
            </a:extLst>
          </p:cNvPr>
          <p:cNvGraphicFramePr>
            <a:graphicFrameLocks noGrp="1"/>
          </p:cNvGraphicFramePr>
          <p:nvPr/>
        </p:nvGraphicFramePr>
        <p:xfrm>
          <a:off x="2528277" y="7144512"/>
          <a:ext cx="11199446" cy="1630680"/>
        </p:xfrm>
        <a:graphic>
          <a:graphicData uri="http://schemas.openxmlformats.org/drawingml/2006/table">
            <a:tbl>
              <a:tblPr/>
              <a:tblGrid>
                <a:gridCol w="5599723">
                  <a:extLst>
                    <a:ext uri="{9D8B030D-6E8A-4147-A177-3AD203B41FA5}">
                      <a16:colId xmlns:a16="http://schemas.microsoft.com/office/drawing/2014/main" val="2430855422"/>
                    </a:ext>
                  </a:extLst>
                </a:gridCol>
                <a:gridCol w="5599723">
                  <a:extLst>
                    <a:ext uri="{9D8B030D-6E8A-4147-A177-3AD203B41FA5}">
                      <a16:colId xmlns:a16="http://schemas.microsoft.com/office/drawing/2014/main" val="28642949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b="1" dirty="0">
                          <a:solidFill>
                            <a:schemeClr val="bg1"/>
                          </a:solidFill>
                          <a:effectLst/>
                        </a:rPr>
                        <a:t>분석 기능</a:t>
                      </a:r>
                    </a:p>
                  </a:txBody>
                  <a:tcPr marT="66675" marB="66675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b="1" dirty="0">
                          <a:solidFill>
                            <a:schemeClr val="bg1"/>
                          </a:solidFill>
                          <a:effectLst/>
                        </a:rPr>
                        <a:t>설명</a:t>
                      </a:r>
                    </a:p>
                  </a:txBody>
                  <a:tcPr marT="66675" marB="66675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919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b="0">
                          <a:solidFill>
                            <a:schemeClr val="bg1"/>
                          </a:solidFill>
                          <a:effectLst/>
                        </a:rPr>
                        <a:t>연령대 비교</a:t>
                      </a:r>
                    </a:p>
                  </a:txBody>
                  <a:tcPr marT="66675" marB="6667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b="0">
                          <a:solidFill>
                            <a:schemeClr val="bg1"/>
                          </a:solidFill>
                          <a:effectLst/>
                        </a:rPr>
                        <a:t>60~64</a:t>
                      </a:r>
                      <a:r>
                        <a:rPr lang="ko-KR" altLang="en-US" b="0">
                          <a:solidFill>
                            <a:schemeClr val="bg1"/>
                          </a:solidFill>
                          <a:effectLst/>
                        </a:rPr>
                        <a:t>세와 </a:t>
                      </a:r>
                      <a:r>
                        <a:rPr lang="en-US" altLang="ko-KR" b="0">
                          <a:solidFill>
                            <a:schemeClr val="bg1"/>
                          </a:solidFill>
                          <a:effectLst/>
                        </a:rPr>
                        <a:t>65</a:t>
                      </a:r>
                      <a:r>
                        <a:rPr lang="ko-KR" altLang="en-US" b="0">
                          <a:solidFill>
                            <a:schemeClr val="bg1"/>
                          </a:solidFill>
                          <a:effectLst/>
                        </a:rPr>
                        <a:t>세 이상 사고 추이 비교</a:t>
                      </a:r>
                    </a:p>
                  </a:txBody>
                  <a:tcPr marT="66675" marB="6667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1437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b="0">
                          <a:solidFill>
                            <a:schemeClr val="bg1"/>
                          </a:solidFill>
                          <a:effectLst/>
                        </a:rPr>
                        <a:t>위험 신호 확인</a:t>
                      </a:r>
                    </a:p>
                  </a:txBody>
                  <a:tcPr marT="66675" marB="6667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b="0">
                          <a:solidFill>
                            <a:schemeClr val="bg1"/>
                          </a:solidFill>
                          <a:effectLst/>
                        </a:rPr>
                        <a:t>65</a:t>
                      </a:r>
                      <a:r>
                        <a:rPr lang="ko-KR" altLang="en-US" b="0">
                          <a:solidFill>
                            <a:schemeClr val="bg1"/>
                          </a:solidFill>
                          <a:effectLst/>
                        </a:rPr>
                        <a:t>세 이상 사고 증가 흐름 시각화</a:t>
                      </a:r>
                    </a:p>
                  </a:txBody>
                  <a:tcPr marT="66675" marB="6667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3701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b="0">
                          <a:solidFill>
                            <a:schemeClr val="bg1"/>
                          </a:solidFill>
                          <a:effectLst/>
                        </a:rPr>
                        <a:t>상세 데이터 검증</a:t>
                      </a:r>
                    </a:p>
                  </a:txBody>
                  <a:tcPr marT="66675" marB="6667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b="0" dirty="0">
                          <a:solidFill>
                            <a:schemeClr val="bg1"/>
                          </a:solidFill>
                          <a:effectLst/>
                        </a:rPr>
                        <a:t>원본 표 기반의 수치 확인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  <a:effectLst/>
                        </a:rPr>
                        <a:t>·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  <a:effectLst/>
                        </a:rPr>
                        <a:t>보고서 활용</a:t>
                      </a:r>
                    </a:p>
                  </a:txBody>
                  <a:tcPr marT="66675" marB="6667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59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4817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762000" y="685800"/>
            <a:ext cx="1346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ko-KR" altLang="en-US" sz="3400" b="1" dirty="0">
                <a:solidFill>
                  <a:schemeClr val="bg1"/>
                </a:solidFill>
              </a:rPr>
              <a:t>분석</a:t>
            </a:r>
            <a:r>
              <a:rPr lang="en-US" sz="3400" b="1" dirty="0">
                <a:solidFill>
                  <a:schemeClr val="bg1"/>
                </a:solidFill>
              </a:rPr>
              <a:t> </a:t>
            </a:r>
            <a:r>
              <a:rPr lang="ko-KR" altLang="en-US" sz="3400" b="1" dirty="0">
                <a:solidFill>
                  <a:schemeClr val="bg1"/>
                </a:solidFill>
              </a:rPr>
              <a:t>화면 예시</a:t>
            </a:r>
            <a:endParaRPr lang="en-US" sz="3400" b="1" dirty="0">
              <a:solidFill>
                <a:schemeClr val="bg1"/>
              </a:solidFill>
            </a:endParaRPr>
          </a:p>
        </p:txBody>
      </p:sp>
      <p:sp>
        <p:nvSpPr>
          <p:cNvPr id="3" name="title-line"/>
          <p:cNvSpPr/>
          <p:nvPr/>
        </p:nvSpPr>
        <p:spPr>
          <a:xfrm>
            <a:off x="762000" y="1574800"/>
            <a:ext cx="1524000" cy="9144"/>
          </a:xfrm>
          <a:prstGeom prst="line">
            <a:avLst/>
          </a:prstGeom>
          <a:ln w="38100">
            <a:solidFill>
              <a:srgbClr val="00B4D8"/>
            </a:solidFill>
            <a:prstDash val="solid"/>
          </a:ln>
        </p:spPr>
      </p:sp>
      <p:sp>
        <p:nvSpPr>
          <p:cNvPr id="13" name="page"/>
          <p:cNvSpPr/>
          <p:nvPr/>
        </p:nvSpPr>
        <p:spPr>
          <a:xfrm>
            <a:off x="14859000" y="84836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9CA3AF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08</a:t>
            </a:r>
            <a:endParaRPr lang="en-US" sz="1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E07B74D-1F28-4635-A2AE-347A3813A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0231" y="385306"/>
            <a:ext cx="8335538" cy="6544588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0AA2643-EE2E-49B7-AACB-255C3FC406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0454352"/>
              </p:ext>
            </p:extLst>
          </p:nvPr>
        </p:nvGraphicFramePr>
        <p:xfrm>
          <a:off x="1117600" y="6018689"/>
          <a:ext cx="14020800" cy="3074670"/>
        </p:xfrm>
        <a:graphic>
          <a:graphicData uri="http://schemas.openxmlformats.org/drawingml/2006/table">
            <a:tbl>
              <a:tblPr/>
              <a:tblGrid>
                <a:gridCol w="4673600">
                  <a:extLst>
                    <a:ext uri="{9D8B030D-6E8A-4147-A177-3AD203B41FA5}">
                      <a16:colId xmlns:a16="http://schemas.microsoft.com/office/drawing/2014/main" val="3705356285"/>
                    </a:ext>
                  </a:extLst>
                </a:gridCol>
                <a:gridCol w="4673600">
                  <a:extLst>
                    <a:ext uri="{9D8B030D-6E8A-4147-A177-3AD203B41FA5}">
                      <a16:colId xmlns:a16="http://schemas.microsoft.com/office/drawing/2014/main" val="3866960403"/>
                    </a:ext>
                  </a:extLst>
                </a:gridCol>
                <a:gridCol w="4673600">
                  <a:extLst>
                    <a:ext uri="{9D8B030D-6E8A-4147-A177-3AD203B41FA5}">
                      <a16:colId xmlns:a16="http://schemas.microsoft.com/office/drawing/2014/main" val="34975667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800" b="1" dirty="0">
                          <a:solidFill>
                            <a:schemeClr val="bg1"/>
                          </a:solidFill>
                          <a:effectLst/>
                        </a:rPr>
                        <a:t>항목</a:t>
                      </a:r>
                    </a:p>
                  </a:txBody>
                  <a:tcPr marT="66675" marB="66675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800" b="1" dirty="0">
                          <a:solidFill>
                            <a:schemeClr val="bg1"/>
                          </a:solidFill>
                          <a:effectLst/>
                        </a:rPr>
                        <a:t>권장 표현</a:t>
                      </a:r>
                    </a:p>
                  </a:txBody>
                  <a:tcPr marT="66675" marB="66675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800" b="1" dirty="0">
                          <a:solidFill>
                            <a:schemeClr val="bg1"/>
                          </a:solidFill>
                          <a:effectLst/>
                        </a:rPr>
                        <a:t>이유</a:t>
                      </a:r>
                    </a:p>
                  </a:txBody>
                  <a:tcPr marT="66675" marB="66675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5656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bg1"/>
                          </a:solidFill>
                          <a:effectLst/>
                        </a:rPr>
                        <a:t>yearly_seasonality=True</a:t>
                      </a:r>
                    </a:p>
                  </a:txBody>
                  <a:tcPr marT="66675" marB="6667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>
                          <a:solidFill>
                            <a:schemeClr val="bg1"/>
                          </a:solidFill>
                          <a:effectLst/>
                        </a:rPr>
                        <a:t>연도별 집계 데이터에서는 계절성보다 장기 추세를 중심으로 해석</a:t>
                      </a:r>
                    </a:p>
                  </a:txBody>
                  <a:tcPr marT="66675" marB="6667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>
                          <a:solidFill>
                            <a:schemeClr val="bg1"/>
                          </a:solidFill>
                          <a:effectLst/>
                        </a:rPr>
                        <a:t>연도별 데이터는 연중 반복되는 계절 패턴을 식별할 수 없으므로</a:t>
                      </a:r>
                      <a:r>
                        <a:rPr lang="en-US" altLang="ko-KR" sz="1400" b="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ko-KR" altLang="en-US" sz="1400" b="0">
                          <a:solidFill>
                            <a:schemeClr val="bg1"/>
                          </a:solidFill>
                          <a:effectLst/>
                        </a:rPr>
                        <a:t>명절</a:t>
                      </a:r>
                      <a:r>
                        <a:rPr lang="en-US" altLang="ko-KR" sz="1400" b="0">
                          <a:solidFill>
                            <a:schemeClr val="bg1"/>
                          </a:solidFill>
                          <a:effectLst/>
                        </a:rPr>
                        <a:t>·</a:t>
                      </a:r>
                      <a:r>
                        <a:rPr lang="ko-KR" altLang="en-US" sz="1400" b="0">
                          <a:solidFill>
                            <a:schemeClr val="bg1"/>
                          </a:solidFill>
                          <a:effectLst/>
                        </a:rPr>
                        <a:t>계절</a:t>
                      </a:r>
                      <a:r>
                        <a:rPr lang="en-US" altLang="ko-KR" sz="1400" b="0">
                          <a:solidFill>
                            <a:schemeClr val="bg1"/>
                          </a:solidFill>
                          <a:effectLst/>
                        </a:rPr>
                        <a:t>·</a:t>
                      </a:r>
                      <a:r>
                        <a:rPr lang="ko-KR" altLang="en-US" sz="1400" b="0">
                          <a:solidFill>
                            <a:schemeClr val="bg1"/>
                          </a:solidFill>
                          <a:effectLst/>
                        </a:rPr>
                        <a:t>월별 교통량 변동을 반영했다고 설명하면 부정확할 수 있습니다</a:t>
                      </a:r>
                      <a:r>
                        <a:rPr lang="en-US" altLang="ko-KR" sz="1400" b="0"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</a:p>
                  </a:txBody>
                  <a:tcPr marT="66675" marB="6667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960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>
                          <a:solidFill>
                            <a:schemeClr val="bg1"/>
                          </a:solidFill>
                          <a:effectLst/>
                        </a:rPr>
                        <a:t>신뢰구간</a:t>
                      </a:r>
                    </a:p>
                  </a:txBody>
                  <a:tcPr marT="66675" marB="6667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>
                          <a:solidFill>
                            <a:schemeClr val="bg1"/>
                          </a:solidFill>
                          <a:effectLst/>
                        </a:rPr>
                        <a:t>모형이 산출한 불확실성 범위</a:t>
                      </a:r>
                    </a:p>
                  </a:txBody>
                  <a:tcPr marT="66675" marB="6667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>
                          <a:solidFill>
                            <a:schemeClr val="bg1"/>
                          </a:solidFill>
                          <a:effectLst/>
                        </a:rPr>
                        <a:t>실제 정책 변화</a:t>
                      </a:r>
                      <a:r>
                        <a:rPr lang="en-US" altLang="ko-KR" sz="1400" b="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ko-KR" altLang="en-US" sz="1400" b="0">
                          <a:solidFill>
                            <a:schemeClr val="bg1"/>
                          </a:solidFill>
                          <a:effectLst/>
                        </a:rPr>
                        <a:t>교통량 변화</a:t>
                      </a:r>
                      <a:r>
                        <a:rPr lang="en-US" altLang="ko-KR" sz="1400" b="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ko-KR" altLang="en-US" sz="1400" b="0">
                          <a:solidFill>
                            <a:schemeClr val="bg1"/>
                          </a:solidFill>
                          <a:effectLst/>
                        </a:rPr>
                        <a:t>인구구조 변화 등 모든 미래 위험을 포괄하는 절대적 리스크 범위는 아닙니다</a:t>
                      </a:r>
                      <a:r>
                        <a:rPr lang="en-US" altLang="ko-KR" sz="1400" b="0"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</a:p>
                  </a:txBody>
                  <a:tcPr marT="66675" marB="6667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321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>
                          <a:solidFill>
                            <a:schemeClr val="bg1"/>
                          </a:solidFill>
                          <a:effectLst/>
                        </a:rPr>
                        <a:t>예측 결과</a:t>
                      </a:r>
                    </a:p>
                  </a:txBody>
                  <a:tcPr marT="66675" marB="6667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>
                          <a:solidFill>
                            <a:schemeClr val="bg1"/>
                          </a:solidFill>
                          <a:effectLst/>
                        </a:rPr>
                        <a:t>정책 검토용 추세 시나리오</a:t>
                      </a:r>
                    </a:p>
                  </a:txBody>
                  <a:tcPr marT="66675" marB="6667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  <a:r>
                        <a:rPr lang="ko-KR" altLang="en-US" sz="1400" b="0">
                          <a:solidFill>
                            <a:schemeClr val="bg1"/>
                          </a:solidFill>
                          <a:effectLst/>
                        </a:rPr>
                        <a:t>개년 내외의 짧은 연도별 데이터만으로는 장기 미래를 확정적으로 예측하기 어렵습니다</a:t>
                      </a:r>
                      <a:r>
                        <a:rPr lang="en-US" altLang="ko-KR" sz="1400" b="0"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</a:p>
                  </a:txBody>
                  <a:tcPr marT="66675" marB="6667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867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effectLst/>
                        </a:rPr>
                        <a:t>2025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effectLst/>
                        </a:rPr>
                        <a:t>년 표기</a:t>
                      </a:r>
                    </a:p>
                  </a:txBody>
                  <a:tcPr marT="66675" marB="6667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>
                          <a:solidFill>
                            <a:schemeClr val="bg1"/>
                          </a:solidFill>
                          <a:effectLst/>
                        </a:rPr>
                        <a:t>실측 연도와 예측 연도를 구분</a:t>
                      </a:r>
                    </a:p>
                  </a:txBody>
                  <a:tcPr marT="66675" marB="6667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effectLst/>
                        </a:rPr>
                        <a:t>그래프에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effectLst/>
                        </a:rPr>
                        <a:t>2025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effectLst/>
                        </a:rPr>
                        <a:t>년 실측치가 있다면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effectLst/>
                        </a:rPr>
                        <a:t>표의 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effectLst/>
                        </a:rPr>
                        <a:t>2025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effectLst/>
                        </a:rPr>
                        <a:t>년 </a:t>
                      </a:r>
                      <a:r>
                        <a:rPr lang="en-US" altLang="ko-KR" sz="1400" b="0" dirty="0" err="1">
                          <a:solidFill>
                            <a:schemeClr val="bg1"/>
                          </a:solidFill>
                          <a:effectLst/>
                        </a:rPr>
                        <a:t>yhat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effectLst/>
                        </a:rPr>
                        <a:t>은 ‘미래 </a:t>
                      </a:r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  <a:effectLst/>
                        </a:rPr>
                        <a:t>예측’으로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effectLst/>
                        </a:rPr>
                        <a:t> 보이지 않도록 데이터 기준일과 날짜 형식을 확인해야 합니다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</a:p>
                  </a:txBody>
                  <a:tcPr marT="66675" marB="66675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4553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9985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762000" y="685800"/>
            <a:ext cx="1346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FAQ </a:t>
            </a:r>
            <a:r>
              <a:rPr lang="ko-KR" altLang="en-US" sz="3400" b="1" dirty="0">
                <a:solidFill>
                  <a:schemeClr val="bg1"/>
                </a:solidFill>
              </a:rPr>
              <a:t>화면 예시</a:t>
            </a:r>
            <a:endParaRPr lang="en-US" sz="3400" b="1" dirty="0">
              <a:solidFill>
                <a:schemeClr val="bg1"/>
              </a:solidFill>
            </a:endParaRPr>
          </a:p>
        </p:txBody>
      </p:sp>
      <p:sp>
        <p:nvSpPr>
          <p:cNvPr id="3" name="title-line"/>
          <p:cNvSpPr/>
          <p:nvPr/>
        </p:nvSpPr>
        <p:spPr>
          <a:xfrm>
            <a:off x="762000" y="1574800"/>
            <a:ext cx="1524000" cy="9144"/>
          </a:xfrm>
          <a:prstGeom prst="line">
            <a:avLst/>
          </a:prstGeom>
          <a:ln w="38100">
            <a:solidFill>
              <a:srgbClr val="00B4D8"/>
            </a:solidFill>
            <a:prstDash val="solid"/>
          </a:ln>
        </p:spPr>
      </p:sp>
      <p:sp>
        <p:nvSpPr>
          <p:cNvPr id="13" name="page"/>
          <p:cNvSpPr/>
          <p:nvPr/>
        </p:nvSpPr>
        <p:spPr>
          <a:xfrm>
            <a:off x="14859000" y="84836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9CA3AF"/>
                </a:solidFill>
                <a:latin typeface="Noto Sans KR" pitchFamily="34" charset="0"/>
                <a:ea typeface="Microsoft YaHei" pitchFamily="34" charset="-122"/>
                <a:cs typeface="Noto Sans KR" pitchFamily="34" charset="-120"/>
              </a:rPr>
              <a:t>08</a:t>
            </a:r>
            <a:endParaRPr lang="en-US" sz="1400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379606DA-153C-4069-9C0F-111130F4B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2413" y="508760"/>
            <a:ext cx="7626540" cy="812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997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1004</Words>
  <Application>Microsoft Office PowerPoint</Application>
  <PresentationFormat>사용자 지정</PresentationFormat>
  <Paragraphs>187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맑은 고딕</vt:lpstr>
      <vt:lpstr>Noto Sans KR</vt:lpstr>
      <vt:lpstr>Arial</vt:lpstr>
      <vt:lpstr>Abadi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/home/ubuntu/SAFE_10min_presentation</dc:title>
  <dc:subject>/home/ubuntu/SAFE_10min_presentation</dc:subject>
  <dc:creator>Manus</dc:creator>
  <cp:lastModifiedBy>효원 안</cp:lastModifiedBy>
  <cp:revision>9</cp:revision>
  <dcterms:created xsi:type="dcterms:W3CDTF">2026-08-21T05:00:41Z</dcterms:created>
  <dcterms:modified xsi:type="dcterms:W3CDTF">2026-08-21T06:12:15Z</dcterms:modified>
</cp:coreProperties>
</file>